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B0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B0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ta1.jpg"/>
          <p:cNvPicPr>
            <a:picLocks noChangeAspect="1"/>
          </p:cNvPicPr>
          <p:nvPr/>
        </p:nvPicPr>
        <p:blipFill>
          <a:blip r:embed="rId2"/>
          <a:srcRect l="10186" r="10186"/>
          <a:stretch>
            <a:fillRect/>
          </a:stretch>
        </p:blipFill>
        <p:spPr>
          <a:xfrm>
            <a:off x="7955279" y="1051560"/>
            <a:ext cx="3566160" cy="475488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40080" y="868680"/>
            <a:ext cx="7040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C9A227"/>
                </a:solidFill>
                <a:latin typeface="Calibri"/>
              </a:rPr>
              <a:t>Anđela Stefanov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6858000" cy="5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704088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VELIMIR
„BATA“ ŽIVOJINOVIĆ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97680"/>
            <a:ext cx="7040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1">
                <a:solidFill>
                  <a:srgbClr val="F4F1EA"/>
                </a:solidFill>
                <a:latin typeface="Calibri"/>
              </a:rPr>
              <a:t>Život i uloge - s posebnim osvrtom na ulogu Gvozdena u filmu „Lepa sela lepo gore“ (1996)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7040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C9A227"/>
                </a:solidFill>
                <a:latin typeface="Calibri"/>
              </a:rPr>
              <a:t>1933 - 2016  •  legenda jugoslovenskog i srpskog filma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Sadržaj prezentacije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10058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 b="0">
                <a:solidFill>
                  <a:srgbClr val="1A1A1A"/>
                </a:solidFill>
                <a:latin typeface="Calibri"/>
              </a:rPr>
              <a:t>Ko je bio Bata Živojinović?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 b="0">
                <a:solidFill>
                  <a:srgbClr val="1A1A1A"/>
                </a:solidFill>
                <a:latin typeface="Calibri"/>
              </a:rPr>
              <a:t>Detinjstvo, mladost i školovanje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 b="0">
                <a:solidFill>
                  <a:srgbClr val="1A1A1A"/>
                </a:solidFill>
                <a:latin typeface="Calibri"/>
              </a:rPr>
              <a:t>Filmska karijera i najpoznatije uloge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 b="0">
                <a:solidFill>
                  <a:srgbClr val="1A1A1A"/>
                </a:solidFill>
                <a:latin typeface="Calibri"/>
              </a:rPr>
              <a:t>Televizijske uloge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 b="0">
                <a:solidFill>
                  <a:srgbClr val="1A1A1A"/>
                </a:solidFill>
                <a:latin typeface="Calibri"/>
              </a:rPr>
              <a:t>Politički angažman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 b="0">
                <a:solidFill>
                  <a:srgbClr val="1A1A1A"/>
                </a:solidFill>
                <a:latin typeface="Calibri"/>
              </a:rPr>
              <a:t>Film „Lepa sela lepo gore“ - o čemu se radi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 b="0">
                <a:solidFill>
                  <a:srgbClr val="1A1A1A"/>
                </a:solidFill>
                <a:latin typeface="Calibri"/>
              </a:rPr>
              <a:t>Uloga Gvozdena - analiza lika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 b="0">
                <a:solidFill>
                  <a:srgbClr val="1A1A1A"/>
                </a:solidFill>
                <a:latin typeface="Calibri"/>
              </a:rPr>
              <a:t>Značaj uloge i poruka filma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 b="0">
                <a:solidFill>
                  <a:srgbClr val="1A1A1A"/>
                </a:solidFill>
                <a:latin typeface="Calibri"/>
              </a:rPr>
              <a:t>Nagrade, priznanja i nasleđe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 b="0">
                <a:solidFill>
                  <a:srgbClr val="1A1A1A"/>
                </a:solidFill>
                <a:latin typeface="Calibri"/>
              </a:rPr>
              <a:t>Zaključak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Ko je bio Bata Živojinović?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675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Jedan od </a:t>
            </a:r>
            <a:r>
              <a:rPr sz="1800" b="1">
                <a:solidFill>
                  <a:srgbClr val="1A1A1A"/>
                </a:solidFill>
                <a:latin typeface="Calibri"/>
              </a:rPr>
              <a:t>najpoznatijih i najplodnijih glumaca</a:t>
            </a:r>
            <a:r>
              <a:rPr sz="1800" b="0">
                <a:solidFill>
                  <a:srgbClr val="1A1A1A"/>
                </a:solidFill>
                <a:latin typeface="Calibri"/>
              </a:rPr>
              <a:t> u istoriji jugoslovenskog i srpskog filma.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Tokom karijere igrao je u </a:t>
            </a:r>
            <a:r>
              <a:rPr sz="1800" b="1">
                <a:solidFill>
                  <a:srgbClr val="1A1A1A"/>
                </a:solidFill>
                <a:latin typeface="Calibri"/>
              </a:rPr>
              <a:t>više od 300 filmova</a:t>
            </a:r>
            <a:r>
              <a:rPr sz="1800" b="0">
                <a:solidFill>
                  <a:srgbClr val="1A1A1A"/>
                </a:solidFill>
                <a:latin typeface="Calibri"/>
              </a:rPr>
              <a:t> i televizijskih ostvarenja.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Postao je prepoznatljiv kao simbol </a:t>
            </a:r>
            <a:r>
              <a:rPr sz="1800" b="1">
                <a:solidFill>
                  <a:srgbClr val="1A1A1A"/>
                </a:solidFill>
                <a:latin typeface="Calibri"/>
              </a:rPr>
              <a:t>„partizanskih“ ratnih filmova</a:t>
            </a:r>
            <a:r>
              <a:rPr sz="1800" b="0">
                <a:solidFill>
                  <a:srgbClr val="1A1A1A"/>
                </a:solidFill>
                <a:latin typeface="Calibri"/>
              </a:rPr>
              <a:t> i otelotvorenje narodnog junaka.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Voljen kod publike zbog </a:t>
            </a:r>
            <a:r>
              <a:rPr sz="1800" b="1">
                <a:solidFill>
                  <a:srgbClr val="1A1A1A"/>
                </a:solidFill>
                <a:latin typeface="Calibri"/>
              </a:rPr>
              <a:t>topline, autentičnosti i snažne ekranske pojave</a:t>
            </a:r>
            <a:r>
              <a:rPr sz="180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U drugom delu života bavio se i politikom.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0" y="1554480"/>
            <a:ext cx="4114800" cy="233172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173736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C9A227"/>
                </a:solidFill>
                <a:latin typeface="Calibri"/>
              </a:rPr>
              <a:t>LIČNA KARTA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28600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•  </a:t>
            </a:r>
            <a:r>
              <a:rPr sz="1300" b="0">
                <a:solidFill>
                  <a:srgbClr val="FFFFFF"/>
                </a:solidFill>
                <a:latin typeface="Calibri"/>
              </a:rPr>
              <a:t>Puno ime: Velimir Živojinović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•  </a:t>
            </a:r>
            <a:r>
              <a:rPr sz="1300" b="0">
                <a:solidFill>
                  <a:srgbClr val="FFFFFF"/>
                </a:solidFill>
                <a:latin typeface="Calibri"/>
              </a:rPr>
              <a:t>Nadimak: Bata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•  </a:t>
            </a:r>
            <a:r>
              <a:rPr sz="1300" b="0">
                <a:solidFill>
                  <a:srgbClr val="FFFFFF"/>
                </a:solidFill>
                <a:latin typeface="Calibri"/>
              </a:rPr>
              <a:t>Rođen: 5. jun 1933, Koraćica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•  </a:t>
            </a:r>
            <a:r>
              <a:rPr sz="1300" b="0">
                <a:solidFill>
                  <a:srgbClr val="FFFFFF"/>
                </a:solidFill>
                <a:latin typeface="Calibri"/>
              </a:rPr>
              <a:t>Preminuo: 22. maj 2016, Beograd</a:t>
            </a:r>
          </a:p>
        </p:txBody>
      </p:sp>
      <p:pic>
        <p:nvPicPr>
          <p:cNvPr id="10" name="Picture 9" descr="bata2.jpg"/>
          <p:cNvPicPr>
            <a:picLocks noChangeAspect="1"/>
          </p:cNvPicPr>
          <p:nvPr/>
        </p:nvPicPr>
        <p:blipFill>
          <a:blip r:embed="rId2"/>
          <a:srcRect t="8170" b="8170"/>
          <a:stretch>
            <a:fillRect/>
          </a:stretch>
        </p:blipFill>
        <p:spPr>
          <a:xfrm>
            <a:off x="7589520" y="4069080"/>
            <a:ext cx="4114800" cy="228600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Detinjstvo, mladost i školovanje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766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Rođen je </a:t>
            </a:r>
            <a:r>
              <a:rPr sz="1800" b="1">
                <a:solidFill>
                  <a:srgbClr val="1A1A1A"/>
                </a:solidFill>
                <a:latin typeface="Calibri"/>
              </a:rPr>
              <a:t>5. juna 1933.</a:t>
            </a:r>
            <a:r>
              <a:rPr sz="1800" b="0">
                <a:solidFill>
                  <a:srgbClr val="1A1A1A"/>
                </a:solidFill>
                <a:latin typeface="Calibri"/>
              </a:rPr>
              <a:t> u selu </a:t>
            </a:r>
            <a:r>
              <a:rPr sz="1800" b="1">
                <a:solidFill>
                  <a:srgbClr val="1A1A1A"/>
                </a:solidFill>
                <a:latin typeface="Calibri"/>
              </a:rPr>
              <a:t>Koraćica</a:t>
            </a:r>
            <a:r>
              <a:rPr sz="1800" b="0">
                <a:solidFill>
                  <a:srgbClr val="1A1A1A"/>
                </a:solidFill>
                <a:latin typeface="Calibri"/>
              </a:rPr>
              <a:t>, u podnožju planine </a:t>
            </a:r>
            <a:r>
              <a:rPr sz="1800" b="1">
                <a:solidFill>
                  <a:srgbClr val="1A1A1A"/>
                </a:solidFill>
                <a:latin typeface="Calibri"/>
              </a:rPr>
              <a:t>Kosmaj</a:t>
            </a:r>
            <a:r>
              <a:rPr sz="1800" b="0">
                <a:solidFill>
                  <a:srgbClr val="1A1A1A"/>
                </a:solidFill>
                <a:latin typeface="Calibri"/>
              </a:rPr>
              <a:t>, blizu Mladenovca.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Detinjstvo je proveo u skromnim, </a:t>
            </a:r>
            <a:r>
              <a:rPr sz="1800" b="1">
                <a:solidFill>
                  <a:srgbClr val="1A1A1A"/>
                </a:solidFill>
                <a:latin typeface="Calibri"/>
              </a:rPr>
              <a:t>seoskim uslovima</a:t>
            </a:r>
            <a:r>
              <a:rPr sz="1800" b="0">
                <a:solidFill>
                  <a:srgbClr val="1A1A1A"/>
                </a:solidFill>
                <a:latin typeface="Calibri"/>
              </a:rPr>
              <a:t>, što je kasnije uticalo na njegove „narodne“ uloge.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Ljubav prema glumi otkrio je još u mladosti.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Diplomirao je na </a:t>
            </a:r>
            <a:r>
              <a:rPr sz="1800" b="1">
                <a:solidFill>
                  <a:srgbClr val="1A1A1A"/>
                </a:solidFill>
                <a:latin typeface="Calibri"/>
              </a:rPr>
              <a:t>Akademiji za pozorišnu umetnost u Beogradu</a:t>
            </a:r>
            <a:r>
              <a:rPr sz="180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Karijeru je započeo u </a:t>
            </a:r>
            <a:r>
              <a:rPr sz="1800" b="1">
                <a:solidFill>
                  <a:srgbClr val="1A1A1A"/>
                </a:solidFill>
                <a:latin typeface="Calibri"/>
              </a:rPr>
              <a:t>pozorištu</a:t>
            </a:r>
            <a:r>
              <a:rPr sz="1800" b="0">
                <a:solidFill>
                  <a:srgbClr val="1A1A1A"/>
                </a:solidFill>
                <a:latin typeface="Calibri"/>
              </a:rPr>
              <a:t>, a ubrzo prešao na </a:t>
            </a:r>
            <a:r>
              <a:rPr sz="1800" b="1">
                <a:solidFill>
                  <a:srgbClr val="1A1A1A"/>
                </a:solidFill>
                <a:latin typeface="Calibri"/>
              </a:rPr>
              <a:t>film</a:t>
            </a:r>
            <a:r>
              <a:rPr sz="1800" b="0">
                <a:solidFill>
                  <a:srgbClr val="1A1A1A"/>
                </a:solidFill>
                <a:latin typeface="Calibri"/>
              </a:rPr>
              <a:t>, gde je stekao najveću slavu.</a:t>
            </a:r>
          </a:p>
        </p:txBody>
      </p:sp>
      <p:pic>
        <p:nvPicPr>
          <p:cNvPr id="7" name="Picture 6" descr="kosmaj.jpg"/>
          <p:cNvPicPr>
            <a:picLocks noChangeAspect="1"/>
          </p:cNvPicPr>
          <p:nvPr/>
        </p:nvPicPr>
        <p:blipFill>
          <a:blip r:embed="rId2"/>
          <a:srcRect l="24971" r="24971"/>
          <a:stretch>
            <a:fillRect/>
          </a:stretch>
        </p:blipFill>
        <p:spPr>
          <a:xfrm>
            <a:off x="7680960" y="1554480"/>
            <a:ext cx="4023360" cy="420624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680960" y="580644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3D3D3D"/>
                </a:solidFill>
                <a:latin typeface="Calibri"/>
              </a:rPr>
              <a:t>Planina Kosmaj, kraj odakle potiče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Filmska karijera i najpoznatije uloge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Najveću popularnost stekao je u </a:t>
            </a:r>
            <a:r>
              <a:rPr sz="1700" b="1">
                <a:solidFill>
                  <a:srgbClr val="1A1A1A"/>
                </a:solidFill>
                <a:latin typeface="Calibri"/>
              </a:rPr>
              <a:t>partizanskim ratnim filmovima</a:t>
            </a:r>
            <a:r>
              <a:rPr sz="1700" b="0">
                <a:solidFill>
                  <a:srgbClr val="1A1A1A"/>
                </a:solidFill>
                <a:latin typeface="Calibri"/>
              </a:rPr>
              <a:t>, tumačeći hrabre borce i komandante: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-  </a:t>
            </a:r>
            <a:r>
              <a:rPr sz="1500" b="1">
                <a:solidFill>
                  <a:srgbClr val="1A1A1A"/>
                </a:solidFill>
                <a:latin typeface="Calibri"/>
              </a:rPr>
              <a:t>„Bitka na Neretvi“</a:t>
            </a:r>
            <a:r>
              <a:rPr sz="1500" b="0">
                <a:solidFill>
                  <a:srgbClr val="1A1A1A"/>
                </a:solidFill>
                <a:latin typeface="Calibri"/>
              </a:rPr>
              <a:t> (1969)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-  </a:t>
            </a:r>
            <a:r>
              <a:rPr sz="1500" b="1">
                <a:solidFill>
                  <a:srgbClr val="1A1A1A"/>
                </a:solidFill>
                <a:latin typeface="Calibri"/>
              </a:rPr>
              <a:t>„Most“</a:t>
            </a:r>
            <a:r>
              <a:rPr sz="1500" b="0">
                <a:solidFill>
                  <a:srgbClr val="1A1A1A"/>
                </a:solidFill>
                <a:latin typeface="Calibri"/>
              </a:rPr>
              <a:t> (1969)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-  </a:t>
            </a:r>
            <a:r>
              <a:rPr sz="1500" b="1">
                <a:solidFill>
                  <a:srgbClr val="1A1A1A"/>
                </a:solidFill>
                <a:latin typeface="Calibri"/>
              </a:rPr>
              <a:t>„Valter brani Sarajevo“</a:t>
            </a:r>
            <a:r>
              <a:rPr sz="1500" b="0">
                <a:solidFill>
                  <a:srgbClr val="1A1A1A"/>
                </a:solidFill>
                <a:latin typeface="Calibri"/>
              </a:rPr>
              <a:t> (1972)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-  </a:t>
            </a:r>
            <a:r>
              <a:rPr sz="1500" b="1">
                <a:solidFill>
                  <a:srgbClr val="1A1A1A"/>
                </a:solidFill>
                <a:latin typeface="Calibri"/>
              </a:rPr>
              <a:t>„Sutjeska“</a:t>
            </a:r>
            <a:r>
              <a:rPr sz="1500" b="0">
                <a:solidFill>
                  <a:srgbClr val="1A1A1A"/>
                </a:solidFill>
                <a:latin typeface="Calibri"/>
              </a:rPr>
              <a:t> (1973) - uz </a:t>
            </a:r>
            <a:r>
              <a:rPr sz="1500" b="1">
                <a:solidFill>
                  <a:srgbClr val="1A1A1A"/>
                </a:solidFill>
                <a:latin typeface="Calibri"/>
              </a:rPr>
              <a:t>Ričarda Bartona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Igrao je i u komedijama, dramama i istorijskim filmovima - </a:t>
            </a:r>
            <a:r>
              <a:rPr sz="1700" b="1">
                <a:solidFill>
                  <a:srgbClr val="1A1A1A"/>
                </a:solidFill>
                <a:latin typeface="Calibri"/>
              </a:rPr>
              <a:t>veliki glumački raspon</a:t>
            </a:r>
            <a:r>
              <a:rPr sz="170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Njegova pojava postala je </a:t>
            </a:r>
            <a:r>
              <a:rPr sz="1700" b="1">
                <a:solidFill>
                  <a:srgbClr val="1A1A1A"/>
                </a:solidFill>
                <a:latin typeface="Calibri"/>
              </a:rPr>
              <a:t>zaštitni znak čitave epohe</a:t>
            </a:r>
            <a:r>
              <a:rPr sz="1700" b="0">
                <a:solidFill>
                  <a:srgbClr val="1A1A1A"/>
                </a:solidFill>
                <a:latin typeface="Calibri"/>
              </a:rPr>
              <a:t> domaćeg filma.</a:t>
            </a:r>
          </a:p>
        </p:txBody>
      </p:sp>
      <p:pic>
        <p:nvPicPr>
          <p:cNvPr id="7" name="Picture 6" descr="bata3.jpg"/>
          <p:cNvPicPr>
            <a:picLocks noChangeAspect="1"/>
          </p:cNvPicPr>
          <p:nvPr/>
        </p:nvPicPr>
        <p:blipFill>
          <a:blip r:embed="rId2"/>
          <a:srcRect l="16797" r="16797"/>
          <a:stretch>
            <a:fillRect/>
          </a:stretch>
        </p:blipFill>
        <p:spPr>
          <a:xfrm>
            <a:off x="7680960" y="1737360"/>
            <a:ext cx="4023360" cy="402336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Televizijske uloge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766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Pored filma, bio je veoma popularan i na malim ekranima.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Glumio je u </a:t>
            </a:r>
            <a:r>
              <a:rPr sz="1800" b="1">
                <a:solidFill>
                  <a:srgbClr val="1A1A1A"/>
                </a:solidFill>
                <a:latin typeface="Calibri"/>
              </a:rPr>
              <a:t>kultnim TV serijama</a:t>
            </a:r>
            <a:r>
              <a:rPr sz="1800" b="0">
                <a:solidFill>
                  <a:srgbClr val="1A1A1A"/>
                </a:solidFill>
                <a:latin typeface="Calibri"/>
              </a:rPr>
              <a:t> koje su pratile generacije gledalaca: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-  </a:t>
            </a:r>
            <a:r>
              <a:rPr sz="1600" b="1">
                <a:solidFill>
                  <a:srgbClr val="1A1A1A"/>
                </a:solidFill>
                <a:latin typeface="Calibri"/>
              </a:rPr>
              <a:t>„Otpisani“</a:t>
            </a:r>
            <a:r>
              <a:rPr sz="1600" b="0">
                <a:solidFill>
                  <a:srgbClr val="1A1A1A"/>
                </a:solidFill>
                <a:latin typeface="Calibri"/>
              </a:rPr>
              <a:t> i </a:t>
            </a:r>
            <a:r>
              <a:rPr sz="1600" b="1">
                <a:solidFill>
                  <a:srgbClr val="1A1A1A"/>
                </a:solidFill>
                <a:latin typeface="Calibri"/>
              </a:rPr>
              <a:t>„Povratak otpisanih“</a:t>
            </a:r>
            <a:r>
              <a:rPr sz="1600" b="0">
                <a:solidFill>
                  <a:srgbClr val="1A1A1A"/>
                </a:solidFill>
                <a:latin typeface="Calibri"/>
              </a:rPr>
              <a:t> - priče o beogradskim ilegalcima u Drugom svetskom ratu.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Učestvovao je u brojnim TV dramama i serijama tokom decenija.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Zahvaljujući televiziji, postao je </a:t>
            </a:r>
            <a:r>
              <a:rPr sz="1800" b="1">
                <a:solidFill>
                  <a:srgbClr val="1A1A1A"/>
                </a:solidFill>
                <a:latin typeface="Calibri"/>
              </a:rPr>
              <a:t>omiljen u svakom domu</a:t>
            </a:r>
            <a:r>
              <a:rPr sz="1800" b="0">
                <a:solidFill>
                  <a:srgbClr val="1A1A1A"/>
                </a:solidFill>
                <a:latin typeface="Calibri"/>
              </a:rPr>
              <a:t> bivše Jugoslavije.</a:t>
            </a:r>
          </a:p>
        </p:txBody>
      </p:sp>
      <p:pic>
        <p:nvPicPr>
          <p:cNvPr id="7" name="Picture 6" descr="bata1.jpg"/>
          <p:cNvPicPr>
            <a:picLocks noChangeAspect="1"/>
          </p:cNvPicPr>
          <p:nvPr/>
        </p:nvPicPr>
        <p:blipFill>
          <a:blip r:embed="rId2"/>
          <a:srcRect l="2331" r="2331"/>
          <a:stretch>
            <a:fillRect/>
          </a:stretch>
        </p:blipFill>
        <p:spPr>
          <a:xfrm>
            <a:off x="7680960" y="1554480"/>
            <a:ext cx="4023360" cy="448056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Politički angažman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766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U drugom delu života aktivno se bavio </a:t>
            </a:r>
            <a:r>
              <a:rPr sz="1800" b="1">
                <a:solidFill>
                  <a:srgbClr val="1A1A1A"/>
                </a:solidFill>
                <a:latin typeface="Calibri"/>
              </a:rPr>
              <a:t>politikom</a:t>
            </a:r>
            <a:r>
              <a:rPr sz="180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Bio je član </a:t>
            </a:r>
            <a:r>
              <a:rPr sz="1800" b="1">
                <a:solidFill>
                  <a:srgbClr val="1A1A1A"/>
                </a:solidFill>
                <a:latin typeface="Calibri"/>
              </a:rPr>
              <a:t>Socijalističke partije Srbije (SPS)</a:t>
            </a:r>
            <a:r>
              <a:rPr sz="180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Više puta je biran za </a:t>
            </a:r>
            <a:r>
              <a:rPr sz="1800" b="1">
                <a:solidFill>
                  <a:srgbClr val="1A1A1A"/>
                </a:solidFill>
                <a:latin typeface="Calibri"/>
              </a:rPr>
              <a:t>narodnog poslanika</a:t>
            </a:r>
            <a:r>
              <a:rPr sz="1800" b="0">
                <a:solidFill>
                  <a:srgbClr val="1A1A1A"/>
                </a:solidFill>
                <a:latin typeface="Calibri"/>
              </a:rPr>
              <a:t> u Skupštini.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Ulazak u politiku propraćen je velikom pažnjom javnosti - zbog ogromne popularnosti koju je stekao kao glumac.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Publika ga je pre svega pamtila kao velikog umetnika.</a:t>
            </a:r>
          </a:p>
        </p:txBody>
      </p:sp>
      <p:pic>
        <p:nvPicPr>
          <p:cNvPr id="7" name="Picture 6" descr="skupstina.jpg"/>
          <p:cNvPicPr>
            <a:picLocks noChangeAspect="1"/>
          </p:cNvPicPr>
          <p:nvPr/>
        </p:nvPicPr>
        <p:blipFill>
          <a:blip r:embed="rId2"/>
          <a:srcRect l="2849" r="2849"/>
          <a:stretch>
            <a:fillRect/>
          </a:stretch>
        </p:blipFill>
        <p:spPr>
          <a:xfrm>
            <a:off x="7680960" y="1920240"/>
            <a:ext cx="4023360" cy="274320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680960" y="470916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3D3D3D"/>
                </a:solidFill>
                <a:latin typeface="Calibri"/>
              </a:rPr>
              <a:t>U Skupštini Srbije (1990-e)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Film „Lepa sela lepo gore“ (1996)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Reditelj: </a:t>
            </a:r>
            <a:r>
              <a:rPr sz="1800" b="1">
                <a:solidFill>
                  <a:srgbClr val="1A1A1A"/>
                </a:solidFill>
                <a:latin typeface="Calibri"/>
              </a:rPr>
              <a:t>Srđan Dragojević</a:t>
            </a:r>
            <a:r>
              <a:rPr sz="180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Jedan od </a:t>
            </a:r>
            <a:r>
              <a:rPr sz="1800" b="1">
                <a:solidFill>
                  <a:srgbClr val="1A1A1A"/>
                </a:solidFill>
                <a:latin typeface="Calibri"/>
              </a:rPr>
              <a:t>najznačajnijih i najpotresnijih</a:t>
            </a:r>
            <a:r>
              <a:rPr sz="1800" b="0">
                <a:solidFill>
                  <a:srgbClr val="1A1A1A"/>
                </a:solidFill>
                <a:latin typeface="Calibri"/>
              </a:rPr>
              <a:t> srpskih filmova o ratu u Bosni (1992-1995).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Radnja prati grupu srpskih boraca </a:t>
            </a:r>
            <a:r>
              <a:rPr sz="1800" b="1">
                <a:solidFill>
                  <a:srgbClr val="1A1A1A"/>
                </a:solidFill>
                <a:latin typeface="Calibri"/>
              </a:rPr>
              <a:t>zarobljenih u tunelu</a:t>
            </a:r>
            <a:r>
              <a:rPr sz="1800" b="0">
                <a:solidFill>
                  <a:srgbClr val="1A1A1A"/>
                </a:solidFill>
                <a:latin typeface="Calibri"/>
              </a:rPr>
              <a:t>, okruženih neprijateljskim snagama.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Kroz potresne scene prikazuje </a:t>
            </a:r>
            <a:r>
              <a:rPr sz="1800" b="1">
                <a:solidFill>
                  <a:srgbClr val="1A1A1A"/>
                </a:solidFill>
                <a:latin typeface="Calibri"/>
              </a:rPr>
              <a:t>besmisao rata</a:t>
            </a:r>
            <a:r>
              <a:rPr sz="1800" b="0">
                <a:solidFill>
                  <a:srgbClr val="1A1A1A"/>
                </a:solidFill>
                <a:latin typeface="Calibri"/>
              </a:rPr>
              <a:t> i raspad nekadašnjeg „bratstva i jedinstva“.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1">
                <a:solidFill>
                  <a:srgbClr val="1A1A1A"/>
                </a:solidFill>
                <a:latin typeface="Calibri"/>
              </a:rPr>
              <a:t>Antiratni film</a:t>
            </a:r>
            <a:r>
              <a:rPr sz="1800" b="0">
                <a:solidFill>
                  <a:srgbClr val="1A1A1A"/>
                </a:solidFill>
                <a:latin typeface="Calibri"/>
              </a:rPr>
              <a:t> - ne slavi rat, već pokazuje njegovu tragediju i ljudsku patnju.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1554480"/>
            <a:ext cx="3977639" cy="466344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1783080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C9A227"/>
                </a:solidFill>
                <a:latin typeface="Calibri"/>
              </a:rPr>
              <a:t>ZANIMLJIVO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468880"/>
            <a:ext cx="3566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9A227"/>
                </a:solidFill>
                <a:latin typeface="Calibri"/>
              </a:rPr>
              <a:t>•  </a:t>
            </a:r>
            <a:r>
              <a:rPr sz="1400" b="0">
                <a:solidFill>
                  <a:srgbClr val="FFFFFF"/>
                </a:solidFill>
                <a:latin typeface="Calibri"/>
              </a:rPr>
              <a:t>Tunel je </a:t>
            </a:r>
            <a:r>
              <a:rPr sz="1400" b="1">
                <a:solidFill>
                  <a:srgbClr val="FFFFFF"/>
                </a:solidFill>
                <a:latin typeface="Calibri"/>
              </a:rPr>
              <a:t>simbol</a:t>
            </a:r>
            <a:r>
              <a:rPr sz="1400" b="0">
                <a:solidFill>
                  <a:srgbClr val="FFFFFF"/>
                </a:solidFill>
                <a:latin typeface="Calibri"/>
              </a:rPr>
              <a:t> - bezizlazna situacija i zarobljenost u mržnji rata.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9A227"/>
                </a:solidFill>
                <a:latin typeface="Calibri"/>
              </a:rPr>
              <a:t>•  </a:t>
            </a:r>
            <a:r>
              <a:rPr sz="1400" b="0">
                <a:solidFill>
                  <a:srgbClr val="FFFFFF"/>
                </a:solidFill>
                <a:latin typeface="Calibri"/>
              </a:rPr>
              <a:t>Film je dobio </a:t>
            </a:r>
            <a:r>
              <a:rPr sz="1400" b="1">
                <a:solidFill>
                  <a:srgbClr val="FFFFFF"/>
                </a:solidFill>
                <a:latin typeface="Calibri"/>
              </a:rPr>
              <a:t>brojne nagrade</a:t>
            </a:r>
            <a:r>
              <a:rPr sz="1400" b="0">
                <a:solidFill>
                  <a:srgbClr val="FFFFFF"/>
                </a:solidFill>
                <a:latin typeface="Calibri"/>
              </a:rPr>
              <a:t> i prikazivan je širom sveta.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9A227"/>
                </a:solidFill>
                <a:latin typeface="Calibri"/>
              </a:rPr>
              <a:t>•  </a:t>
            </a:r>
            <a:r>
              <a:rPr sz="1400" b="0">
                <a:solidFill>
                  <a:srgbClr val="FFFFFF"/>
                </a:solidFill>
                <a:latin typeface="Calibri"/>
              </a:rPr>
              <a:t>Naziv potiče iz </a:t>
            </a:r>
            <a:r>
              <a:rPr sz="1400" b="1">
                <a:solidFill>
                  <a:srgbClr val="FFFFFF"/>
                </a:solidFill>
                <a:latin typeface="Calibri"/>
              </a:rPr>
              <a:t>crnog humora</a:t>
            </a:r>
            <a:r>
              <a:rPr sz="1400" b="0">
                <a:solidFill>
                  <a:srgbClr val="FFFFFF"/>
                </a:solidFill>
                <a:latin typeface="Calibri"/>
              </a:rPr>
              <a:t> kojim se borci brane od strave rata.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Uloga Gvozdena - analiza lika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Bata Živojinović tumači </a:t>
            </a:r>
            <a:r>
              <a:rPr sz="1700" b="1">
                <a:solidFill>
                  <a:srgbClr val="1A1A1A"/>
                </a:solidFill>
                <a:latin typeface="Calibri"/>
              </a:rPr>
              <a:t>Gvozdena</a:t>
            </a:r>
            <a:r>
              <a:rPr sz="1700" b="0">
                <a:solidFill>
                  <a:srgbClr val="1A1A1A"/>
                </a:solidFill>
                <a:latin typeface="Calibri"/>
              </a:rPr>
              <a:t> - starijeg, iskusnog borca među zarobljenim vojnicima.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Gvozden je nekadašnji radnik koji je iskreno verovao u ideale </a:t>
            </a:r>
            <a:r>
              <a:rPr sz="1700" b="1">
                <a:solidFill>
                  <a:srgbClr val="1A1A1A"/>
                </a:solidFill>
                <a:latin typeface="Calibri"/>
              </a:rPr>
              <a:t>„bratstva i jedinstva“</a:t>
            </a:r>
            <a:r>
              <a:rPr sz="1700" b="0">
                <a:solidFill>
                  <a:srgbClr val="1A1A1A"/>
                </a:solidFill>
                <a:latin typeface="Calibri"/>
              </a:rPr>
              <a:t> socijalističke Jugoslavije.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Predstavlja </a:t>
            </a:r>
            <a:r>
              <a:rPr sz="1700" b="1">
                <a:solidFill>
                  <a:srgbClr val="1A1A1A"/>
                </a:solidFill>
                <a:latin typeface="Calibri"/>
              </a:rPr>
              <a:t>stariju generaciju</a:t>
            </a:r>
            <a:r>
              <a:rPr sz="1700" b="0">
                <a:solidFill>
                  <a:srgbClr val="1A1A1A"/>
                </a:solidFill>
                <a:latin typeface="Calibri"/>
              </a:rPr>
              <a:t> - onu koja je gradila zajedničku zemlju i ne može da prihvati da se ona ruši u krvi.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Kako rat odmiče, sve više </a:t>
            </a:r>
            <a:r>
              <a:rPr sz="1700" b="1">
                <a:solidFill>
                  <a:srgbClr val="1A1A1A"/>
                </a:solidFill>
                <a:latin typeface="Calibri"/>
              </a:rPr>
              <a:t>gubi nadu</a:t>
            </a:r>
            <a:r>
              <a:rPr sz="1700" b="0">
                <a:solidFill>
                  <a:srgbClr val="1A1A1A"/>
                </a:solidFill>
                <a:latin typeface="Calibri"/>
              </a:rPr>
              <a:t> i razočaran je u sve oko sebe.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 b="1">
                <a:solidFill>
                  <a:srgbClr val="1A1A1A"/>
                </a:solidFill>
                <a:latin typeface="Calibri"/>
              </a:rPr>
              <a:t>Tragičan lik</a:t>
            </a:r>
            <a:r>
              <a:rPr sz="1700" b="0">
                <a:solidFill>
                  <a:srgbClr val="1A1A1A"/>
                </a:solidFill>
                <a:latin typeface="Calibri"/>
              </a:rPr>
              <a:t> - simbol sloma jednog sistema vrednosti i jedne epohe.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U trenutku potpunog očaja donosi </a:t>
            </a:r>
            <a:r>
              <a:rPr sz="1700" b="1">
                <a:solidFill>
                  <a:srgbClr val="1A1A1A"/>
                </a:solidFill>
                <a:latin typeface="Calibri"/>
              </a:rPr>
              <a:t>sudbonosnu, samoubilačku odluku</a:t>
            </a:r>
            <a:r>
              <a:rPr sz="1700" b="0">
                <a:solidFill>
                  <a:srgbClr val="1A1A1A"/>
                </a:solidFill>
                <a:latin typeface="Calibri"/>
              </a:rPr>
              <a:t> - jedna od najupečatljivijih scena filma.</a:t>
            </a:r>
          </a:p>
        </p:txBody>
      </p:sp>
      <p:pic>
        <p:nvPicPr>
          <p:cNvPr id="7" name="Picture 6" descr="bata3.jpg"/>
          <p:cNvPicPr>
            <a:picLocks noChangeAspect="1"/>
          </p:cNvPicPr>
          <p:nvPr/>
        </p:nvPicPr>
        <p:blipFill>
          <a:blip r:embed="rId2"/>
          <a:srcRect l="16797" r="16797"/>
          <a:stretch>
            <a:fillRect/>
          </a:stretch>
        </p:blipFill>
        <p:spPr>
          <a:xfrm>
            <a:off x="7680960" y="1737360"/>
            <a:ext cx="4023360" cy="402336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680960" y="580644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3D3D3D"/>
                </a:solidFill>
                <a:latin typeface="Calibri"/>
              </a:rPr>
              <a:t>Bata Živojinović - legenda domaćeg glumišta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Značaj uloge i poruka filma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900" b="1">
                <a:solidFill>
                  <a:srgbClr val="B01E1E"/>
                </a:solidFill>
                <a:latin typeface="Calibri"/>
              </a:rPr>
              <a:t>•  </a:t>
            </a:r>
            <a:r>
              <a:rPr sz="1900" b="0">
                <a:solidFill>
                  <a:srgbClr val="1A1A1A"/>
                </a:solidFill>
                <a:latin typeface="Calibri"/>
              </a:rPr>
              <a:t>Uloga Gvozdena je posebno značajna jer Batu Živojinovića vidimo u </a:t>
            </a:r>
            <a:r>
              <a:rPr sz="1900" b="1">
                <a:solidFill>
                  <a:srgbClr val="1A1A1A"/>
                </a:solidFill>
                <a:latin typeface="Calibri"/>
              </a:rPr>
              <a:t>potpuno novom svetlu</a:t>
            </a:r>
            <a:r>
              <a:rPr sz="190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900" b="1">
                <a:solidFill>
                  <a:srgbClr val="B01E1E"/>
                </a:solidFill>
                <a:latin typeface="Calibri"/>
              </a:rPr>
              <a:t>•  </a:t>
            </a:r>
            <a:r>
              <a:rPr sz="1900" b="0">
                <a:solidFill>
                  <a:srgbClr val="1A1A1A"/>
                </a:solidFill>
                <a:latin typeface="Calibri"/>
              </a:rPr>
              <a:t>Glumac koji je decenijama bio simbol </a:t>
            </a:r>
            <a:r>
              <a:rPr sz="1900" b="1">
                <a:solidFill>
                  <a:srgbClr val="1A1A1A"/>
                </a:solidFill>
                <a:latin typeface="Calibri"/>
              </a:rPr>
              <a:t>partizanskih, pobedničkih junaka</a:t>
            </a:r>
            <a:r>
              <a:rPr sz="1900" b="0">
                <a:solidFill>
                  <a:srgbClr val="1A1A1A"/>
                </a:solidFill>
                <a:latin typeface="Calibri"/>
              </a:rPr>
              <a:t>, sada igra slomljenog, razočaranog čoveka.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900" b="1">
                <a:solidFill>
                  <a:srgbClr val="B01E1E"/>
                </a:solidFill>
                <a:latin typeface="Calibri"/>
              </a:rPr>
              <a:t>•  </a:t>
            </a:r>
            <a:r>
              <a:rPr sz="1900" b="0">
                <a:solidFill>
                  <a:srgbClr val="1A1A1A"/>
                </a:solidFill>
                <a:latin typeface="Calibri"/>
              </a:rPr>
              <a:t>Stvara se </a:t>
            </a:r>
            <a:r>
              <a:rPr sz="1900" b="1">
                <a:solidFill>
                  <a:srgbClr val="1A1A1A"/>
                </a:solidFill>
                <a:latin typeface="Calibri"/>
              </a:rPr>
              <a:t>snažan kontrast</a:t>
            </a:r>
            <a:r>
              <a:rPr sz="1900" b="0">
                <a:solidFill>
                  <a:srgbClr val="1A1A1A"/>
                </a:solidFill>
                <a:latin typeface="Calibri"/>
              </a:rPr>
              <a:t>: nekadašnji „heroj bratstva i jedinstva“ suočava se sa raspadom svega u šta je verovao.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900" b="1">
                <a:solidFill>
                  <a:srgbClr val="B01E1E"/>
                </a:solidFill>
                <a:latin typeface="Calibri"/>
              </a:rPr>
              <a:t>•  </a:t>
            </a:r>
            <a:r>
              <a:rPr sz="1900" b="0">
                <a:solidFill>
                  <a:srgbClr val="1A1A1A"/>
                </a:solidFill>
                <a:latin typeface="Calibri"/>
              </a:rPr>
              <a:t>Poruka filma kroz Gvozdena: </a:t>
            </a:r>
            <a:r>
              <a:rPr sz="1900" b="1">
                <a:solidFill>
                  <a:srgbClr val="1A1A1A"/>
                </a:solidFill>
                <a:latin typeface="Calibri"/>
              </a:rPr>
              <a:t>rat uništava ne samo živote, već i ideale i ljudskost</a:t>
            </a:r>
            <a:r>
              <a:rPr sz="190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900" b="1">
                <a:solidFill>
                  <a:srgbClr val="B01E1E"/>
                </a:solidFill>
                <a:latin typeface="Calibri"/>
              </a:rPr>
              <a:t>•  </a:t>
            </a:r>
            <a:r>
              <a:rPr sz="1900" b="0">
                <a:solidFill>
                  <a:srgbClr val="1A1A1A"/>
                </a:solidFill>
                <a:latin typeface="Calibri"/>
              </a:rPr>
              <a:t>Njegova uloga gledaocu prenosi tugu, gubitak i besmislenost sukoba.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Nagrade, priznanja i nasleđe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675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Osvojio je brojne nagrade, među kojima i prestižne </a:t>
            </a:r>
            <a:r>
              <a:rPr sz="1800" b="1">
                <a:solidFill>
                  <a:srgbClr val="1A1A1A"/>
                </a:solidFill>
                <a:latin typeface="Calibri"/>
              </a:rPr>
              <a:t>Zlatne arene</a:t>
            </a:r>
            <a:r>
              <a:rPr sz="1800" b="0">
                <a:solidFill>
                  <a:srgbClr val="1A1A1A"/>
                </a:solidFill>
                <a:latin typeface="Calibri"/>
              </a:rPr>
              <a:t> na festivalu u Puli.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Dobitnik je priznanja za </a:t>
            </a:r>
            <a:r>
              <a:rPr sz="1800" b="1">
                <a:solidFill>
                  <a:srgbClr val="1A1A1A"/>
                </a:solidFill>
                <a:latin typeface="Calibri"/>
              </a:rPr>
              <a:t>životno delo</a:t>
            </a:r>
            <a:r>
              <a:rPr sz="1800" b="0">
                <a:solidFill>
                  <a:srgbClr val="1A1A1A"/>
                </a:solidFill>
                <a:latin typeface="Calibri"/>
              </a:rPr>
              <a:t> i mnogih drugih umetničkih nagrada.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Smatra se </a:t>
            </a:r>
            <a:r>
              <a:rPr sz="1800" b="1">
                <a:solidFill>
                  <a:srgbClr val="1A1A1A"/>
                </a:solidFill>
                <a:latin typeface="Calibri"/>
              </a:rPr>
              <a:t>jednim od najvećih glumaca</a:t>
            </a:r>
            <a:r>
              <a:rPr sz="1800" b="0">
                <a:solidFill>
                  <a:srgbClr val="1A1A1A"/>
                </a:solidFill>
                <a:latin typeface="Calibri"/>
              </a:rPr>
              <a:t> ovih prostora svih vremena.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Preminuo je </a:t>
            </a:r>
            <a:r>
              <a:rPr sz="1800" b="1">
                <a:solidFill>
                  <a:srgbClr val="1A1A1A"/>
                </a:solidFill>
                <a:latin typeface="Calibri"/>
              </a:rPr>
              <a:t>22. maja 2016.</a:t>
            </a:r>
            <a:r>
              <a:rPr sz="1800" b="0">
                <a:solidFill>
                  <a:srgbClr val="1A1A1A"/>
                </a:solidFill>
                <a:latin typeface="Calibri"/>
              </a:rPr>
              <a:t> u Beogradu, u 83. godini.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Njemu u čast izdata je i poštanska marka; filmovi mu se i danas rado gledaju.</a:t>
            </a:r>
          </a:p>
        </p:txBody>
      </p:sp>
      <p:pic>
        <p:nvPicPr>
          <p:cNvPr id="7" name="Picture 6" descr="pula.jpg"/>
          <p:cNvPicPr>
            <a:picLocks noChangeAspect="1"/>
          </p:cNvPicPr>
          <p:nvPr/>
        </p:nvPicPr>
        <p:blipFill>
          <a:blip r:embed="rId2"/>
          <a:srcRect l="1201" r="1201"/>
          <a:stretch>
            <a:fillRect/>
          </a:stretch>
        </p:blipFill>
        <p:spPr>
          <a:xfrm>
            <a:off x="7680960" y="1600200"/>
            <a:ext cx="4023360" cy="233172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680960" y="3950208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3D3D3D"/>
                </a:solidFill>
                <a:latin typeface="Calibri"/>
              </a:rPr>
              <a:t>Arena u Puli - dom filmskog festivala</a:t>
            </a:r>
          </a:p>
        </p:txBody>
      </p:sp>
      <p:pic>
        <p:nvPicPr>
          <p:cNvPr id="9" name="Picture 8" descr="marka.jpg"/>
          <p:cNvPicPr>
            <a:picLocks noChangeAspect="1"/>
          </p:cNvPicPr>
          <p:nvPr/>
        </p:nvPicPr>
        <p:blipFill>
          <a:blip r:embed="rId3"/>
          <a:srcRect t="32277" b="32277"/>
          <a:stretch>
            <a:fillRect/>
          </a:stretch>
        </p:blipFill>
        <p:spPr>
          <a:xfrm>
            <a:off x="7680960" y="4343400"/>
            <a:ext cx="4023360" cy="192024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680960" y="6291072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3D3D3D"/>
                </a:solidFill>
                <a:latin typeface="Calibri"/>
              </a:rPr>
              <a:t>Poštanska marka Srbije (2023)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B0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B0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 i="0">
                <a:solidFill>
                  <a:srgbClr val="C9A227"/>
                </a:solidFill>
                <a:latin typeface="Calibri"/>
              </a:rPr>
              <a:t>ZAKLJUČAK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2011680"/>
            <a:ext cx="9235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sz="2000" b="1">
                <a:solidFill>
                  <a:srgbClr val="C9A227"/>
                </a:solidFill>
                <a:latin typeface="Calibri"/>
              </a:rPr>
              <a:t>•  </a:t>
            </a:r>
            <a:r>
              <a:rPr sz="2000" b="0">
                <a:solidFill>
                  <a:srgbClr val="F4F1EA"/>
                </a:solidFill>
                <a:latin typeface="Calibri"/>
              </a:rPr>
              <a:t>Bata Živojinović je svojim talentom i radom </a:t>
            </a:r>
            <a:r>
              <a:rPr sz="2000" b="1">
                <a:solidFill>
                  <a:srgbClr val="F4F1EA"/>
                </a:solidFill>
                <a:latin typeface="Calibri"/>
              </a:rPr>
              <a:t>obeležio čitavu epohu</a:t>
            </a:r>
            <a:r>
              <a:rPr sz="2000" b="0">
                <a:solidFill>
                  <a:srgbClr val="F4F1EA"/>
                </a:solidFill>
                <a:latin typeface="Calibri"/>
              </a:rPr>
              <a:t> domaćeg filma.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2000" b="1">
                <a:solidFill>
                  <a:srgbClr val="C9A227"/>
                </a:solidFill>
                <a:latin typeface="Calibri"/>
              </a:rPr>
              <a:t>•  </a:t>
            </a:r>
            <a:r>
              <a:rPr sz="2000" b="0">
                <a:solidFill>
                  <a:srgbClr val="F4F1EA"/>
                </a:solidFill>
                <a:latin typeface="Calibri"/>
              </a:rPr>
              <a:t>Od hrabrih partizanskih junaka do tragičnog Gvozdena, pokazao je </a:t>
            </a:r>
            <a:r>
              <a:rPr sz="2000" b="1">
                <a:solidFill>
                  <a:srgbClr val="F4F1EA"/>
                </a:solidFill>
                <a:latin typeface="Calibri"/>
              </a:rPr>
              <a:t>izuzetan glumački raspon</a:t>
            </a:r>
            <a:r>
              <a:rPr sz="2000" b="0">
                <a:solidFill>
                  <a:srgbClr val="F4F1EA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2000" b="1">
                <a:solidFill>
                  <a:srgbClr val="C9A227"/>
                </a:solidFill>
                <a:latin typeface="Calibri"/>
              </a:rPr>
              <a:t>•  </a:t>
            </a:r>
            <a:r>
              <a:rPr sz="2000" b="0">
                <a:solidFill>
                  <a:srgbClr val="F4F1EA"/>
                </a:solidFill>
                <a:latin typeface="Calibri"/>
              </a:rPr>
              <a:t>Uloga u filmu „Lepa sela lepo gore“ potvrdila je njegovu veličinu i u </a:t>
            </a:r>
            <a:r>
              <a:rPr sz="2000" b="1">
                <a:solidFill>
                  <a:srgbClr val="F4F1EA"/>
                </a:solidFill>
                <a:latin typeface="Calibri"/>
              </a:rPr>
              <a:t>ozbiljnim, antiratnim ostvarenjima</a:t>
            </a:r>
            <a:r>
              <a:rPr sz="2000" b="0">
                <a:solidFill>
                  <a:srgbClr val="F4F1EA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2000" b="1">
                <a:solidFill>
                  <a:srgbClr val="C9A227"/>
                </a:solidFill>
                <a:latin typeface="Calibri"/>
              </a:rPr>
              <a:t>•  </a:t>
            </a:r>
            <a:r>
              <a:rPr sz="2000" b="0">
                <a:solidFill>
                  <a:srgbClr val="F4F1EA"/>
                </a:solidFill>
                <a:latin typeface="Calibri"/>
              </a:rPr>
              <a:t>Ostaje upamćen kao </a:t>
            </a:r>
            <a:r>
              <a:rPr sz="2000" b="1">
                <a:solidFill>
                  <a:srgbClr val="F4F1EA"/>
                </a:solidFill>
                <a:latin typeface="Calibri"/>
              </a:rPr>
              <a:t>legenda</a:t>
            </a:r>
            <a:r>
              <a:rPr sz="2000" b="0">
                <a:solidFill>
                  <a:srgbClr val="F4F1EA"/>
                </a:solidFill>
                <a:latin typeface="Calibri"/>
              </a:rPr>
              <a:t> i jedan od </a:t>
            </a:r>
            <a:r>
              <a:rPr sz="2000" b="1">
                <a:solidFill>
                  <a:srgbClr val="F4F1EA"/>
                </a:solidFill>
                <a:latin typeface="Calibri"/>
              </a:rPr>
              <a:t>najvoljenijih glumaca</a:t>
            </a:r>
            <a:r>
              <a:rPr sz="2000" b="0">
                <a:solidFill>
                  <a:srgbClr val="F4F1EA"/>
                </a:solidFill>
                <a:latin typeface="Calibri"/>
              </a:rPr>
              <a:t> naših prostora.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0" y="3246120"/>
            <a:ext cx="7589520" cy="5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HVALA NA PAŽNJI!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118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C9A227"/>
                </a:solidFill>
                <a:latin typeface="Calibri"/>
              </a:rPr>
              <a:t>Pitanja i diskusija dobrodošli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