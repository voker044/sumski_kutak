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B0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B0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12191695" cy="50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60520"/>
            <a:ext cx="12191695" cy="50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8686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C9A227"/>
                </a:solidFill>
                <a:latin typeface="Calibri"/>
              </a:rPr>
              <a:t>MATURSKA / SEMINARSKA PREZENTACIJA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069848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VELIMIR „BATA“ ŽIVOJINOVIĆ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5196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1">
                <a:solidFill>
                  <a:srgbClr val="F4F1EA"/>
                </a:solidFill>
                <a:latin typeface="Calibri"/>
              </a:rPr>
              <a:t>Život i uloge — s posebnim osvrtom na ulogu Gvozdena
u filmu „Lepa sela lepo gore“ (1996)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978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C9A227"/>
                </a:solidFill>
                <a:latin typeface="Calibri"/>
              </a:rPr>
              <a:t>1933 — 2016  •  legenda jugoslovenskog i srpskog filma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7A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60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C9A227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64592"/>
            <a:ext cx="10424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Sadržaj prezentacije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10058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B01E1E"/>
                </a:solidFill>
                <a:latin typeface="Calibri"/>
              </a:rPr>
              <a:t>•  </a:t>
            </a:r>
            <a:r>
              <a:rPr sz="2000">
                <a:solidFill>
                  <a:srgbClr val="1A1A1A"/>
                </a:solidFill>
                <a:latin typeface="Calibri"/>
              </a:rPr>
              <a:t>Ko je bio Bata Živojinović?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B01E1E"/>
                </a:solidFill>
                <a:latin typeface="Calibri"/>
              </a:rPr>
              <a:t>•  </a:t>
            </a:r>
            <a:r>
              <a:rPr sz="2000">
                <a:solidFill>
                  <a:srgbClr val="1A1A1A"/>
                </a:solidFill>
                <a:latin typeface="Calibri"/>
              </a:rPr>
              <a:t>Detinjstvo, mladost i školovanje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B01E1E"/>
                </a:solidFill>
                <a:latin typeface="Calibri"/>
              </a:rPr>
              <a:t>•  </a:t>
            </a:r>
            <a:r>
              <a:rPr sz="2000">
                <a:solidFill>
                  <a:srgbClr val="1A1A1A"/>
                </a:solidFill>
                <a:latin typeface="Calibri"/>
              </a:rPr>
              <a:t>Filmska karijera i najpoznatije uloge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B01E1E"/>
                </a:solidFill>
                <a:latin typeface="Calibri"/>
              </a:rPr>
              <a:t>•  </a:t>
            </a:r>
            <a:r>
              <a:rPr sz="2000">
                <a:solidFill>
                  <a:srgbClr val="1A1A1A"/>
                </a:solidFill>
                <a:latin typeface="Calibri"/>
              </a:rPr>
              <a:t>Televizijske uloge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B01E1E"/>
                </a:solidFill>
                <a:latin typeface="Calibri"/>
              </a:rPr>
              <a:t>•  </a:t>
            </a:r>
            <a:r>
              <a:rPr sz="2000">
                <a:solidFill>
                  <a:srgbClr val="1A1A1A"/>
                </a:solidFill>
                <a:latin typeface="Calibri"/>
              </a:rPr>
              <a:t>Politički angažman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B01E1E"/>
                </a:solidFill>
                <a:latin typeface="Calibri"/>
              </a:rPr>
              <a:t>•  </a:t>
            </a:r>
            <a:r>
              <a:rPr sz="2000">
                <a:solidFill>
                  <a:srgbClr val="1A1A1A"/>
                </a:solidFill>
                <a:latin typeface="Calibri"/>
              </a:rPr>
              <a:t>Film „Lepa sela lepo gore“ — o čemu se radi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B01E1E"/>
                </a:solidFill>
                <a:latin typeface="Calibri"/>
              </a:rPr>
              <a:t>•  </a:t>
            </a:r>
            <a:r>
              <a:rPr sz="2000">
                <a:solidFill>
                  <a:srgbClr val="1A1A1A"/>
                </a:solidFill>
                <a:latin typeface="Calibri"/>
              </a:rPr>
              <a:t>Uloga Gvozdena — analiza lika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B01E1E"/>
                </a:solidFill>
                <a:latin typeface="Calibri"/>
              </a:rPr>
              <a:t>•  </a:t>
            </a:r>
            <a:r>
              <a:rPr sz="2000">
                <a:solidFill>
                  <a:srgbClr val="1A1A1A"/>
                </a:solidFill>
                <a:latin typeface="Calibri"/>
              </a:rPr>
              <a:t>Značaj uloge i poruka filma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B01E1E"/>
                </a:solidFill>
                <a:latin typeface="Calibri"/>
              </a:rPr>
              <a:t>•  </a:t>
            </a:r>
            <a:r>
              <a:rPr sz="2000">
                <a:solidFill>
                  <a:srgbClr val="1A1A1A"/>
                </a:solidFill>
                <a:latin typeface="Calibri"/>
              </a:rPr>
              <a:t>Nagrade, priznanja i nasleđe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B01E1E"/>
                </a:solidFill>
                <a:latin typeface="Calibri"/>
              </a:rPr>
              <a:t>•  </a:t>
            </a:r>
            <a:r>
              <a:rPr sz="2000">
                <a:solidFill>
                  <a:srgbClr val="1A1A1A"/>
                </a:solidFill>
                <a:latin typeface="Calibri"/>
              </a:rPr>
              <a:t>Zaključak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7A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60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C9A227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64592"/>
            <a:ext cx="10424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Ko je bio Bata Živojinović?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6766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900" b="1">
                <a:solidFill>
                  <a:srgbClr val="B01E1E"/>
                </a:solidFill>
                <a:latin typeface="Calibri"/>
              </a:rPr>
              <a:t>•  </a:t>
            </a:r>
            <a:r>
              <a:rPr sz="1900">
                <a:solidFill>
                  <a:srgbClr val="1A1A1A"/>
                </a:solidFill>
                <a:latin typeface="Calibri"/>
              </a:rPr>
              <a:t>Jedan od najpoznatijih i najplodnijih glumaca u istoriji jugoslovenskog i srpskog filma.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900" b="1">
                <a:solidFill>
                  <a:srgbClr val="B01E1E"/>
                </a:solidFill>
                <a:latin typeface="Calibri"/>
              </a:rPr>
              <a:t>•  </a:t>
            </a:r>
            <a:r>
              <a:rPr sz="1900">
                <a:solidFill>
                  <a:srgbClr val="1A1A1A"/>
                </a:solidFill>
                <a:latin typeface="Calibri"/>
              </a:rPr>
              <a:t>Tokom karijere igrao je u više od 300 filmova i televizijskih ostvarenja.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900" b="1">
                <a:solidFill>
                  <a:srgbClr val="B01E1E"/>
                </a:solidFill>
                <a:latin typeface="Calibri"/>
              </a:rPr>
              <a:t>•  </a:t>
            </a:r>
            <a:r>
              <a:rPr sz="1900">
                <a:solidFill>
                  <a:srgbClr val="1A1A1A"/>
                </a:solidFill>
                <a:latin typeface="Calibri"/>
              </a:rPr>
              <a:t>Postao je prepoznatljiv kao simbol „partizanskih“ ratnih filmova i otelotvorenje hrabrog, narodnog junaka.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900" b="1">
                <a:solidFill>
                  <a:srgbClr val="B01E1E"/>
                </a:solidFill>
                <a:latin typeface="Calibri"/>
              </a:rPr>
              <a:t>•  </a:t>
            </a:r>
            <a:r>
              <a:rPr sz="1900">
                <a:solidFill>
                  <a:srgbClr val="1A1A1A"/>
                </a:solidFill>
                <a:latin typeface="Calibri"/>
              </a:rPr>
              <a:t>Voljen kod publike zbog topline, autentičnosti i snažne ekranske pojave.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900" b="1">
                <a:solidFill>
                  <a:srgbClr val="B01E1E"/>
                </a:solidFill>
                <a:latin typeface="Calibri"/>
              </a:rPr>
              <a:t>•  </a:t>
            </a:r>
            <a:r>
              <a:rPr sz="1900">
                <a:solidFill>
                  <a:srgbClr val="1A1A1A"/>
                </a:solidFill>
                <a:latin typeface="Calibri"/>
              </a:rPr>
              <a:t>U drugom delu života bavio se i politikom.</a:t>
            </a:r>
          </a:p>
        </p:txBody>
      </p:sp>
      <p:sp>
        <p:nvSpPr>
          <p:cNvPr id="7" name="Rectangle 6"/>
          <p:cNvSpPr/>
          <p:nvPr/>
        </p:nvSpPr>
        <p:spPr>
          <a:xfrm>
            <a:off x="7818120" y="7680960"/>
            <a:ext cx="3931920" cy="4663440"/>
          </a:xfrm>
          <a:prstGeom prst="rect">
            <a:avLst/>
          </a:prstGeom>
          <a:solidFill>
            <a:srgbClr val="7A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78308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C9A227"/>
                </a:solidFill>
                <a:latin typeface="Calibri"/>
              </a:rPr>
              <a:t>LIČNA KARTA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42316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•  </a:t>
            </a:r>
            <a:r>
              <a:rPr sz="1500">
                <a:solidFill>
                  <a:srgbClr val="FFFFFF"/>
                </a:solidFill>
                <a:latin typeface="Calibri"/>
              </a:rPr>
              <a:t>Puno ime: Velimir Živojinović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•  </a:t>
            </a:r>
            <a:r>
              <a:rPr sz="1500">
                <a:solidFill>
                  <a:srgbClr val="FFFFFF"/>
                </a:solidFill>
                <a:latin typeface="Calibri"/>
              </a:rPr>
              <a:t>Nadimak: Bata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•  </a:t>
            </a:r>
            <a:r>
              <a:rPr sz="1500">
                <a:solidFill>
                  <a:srgbClr val="FFFFFF"/>
                </a:solidFill>
                <a:latin typeface="Calibri"/>
              </a:rPr>
              <a:t>Rođen: 5. jun 1933, Koraćica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•  </a:t>
            </a:r>
            <a:r>
              <a:rPr sz="1500">
                <a:solidFill>
                  <a:srgbClr val="FFFFFF"/>
                </a:solidFill>
                <a:latin typeface="Calibri"/>
              </a:rPr>
              <a:t>Preminuo: 22. maj 2016, Beograd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•  </a:t>
            </a:r>
            <a:r>
              <a:rPr sz="1500">
                <a:solidFill>
                  <a:srgbClr val="FFFFFF"/>
                </a:solidFill>
                <a:latin typeface="Calibri"/>
              </a:rPr>
              <a:t>Zanimanje: glumac, političar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7A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60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C9A227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64592"/>
            <a:ext cx="10424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Detinjstvo, mladost i školovanje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900" b="1">
                <a:solidFill>
                  <a:srgbClr val="B01E1E"/>
                </a:solidFill>
                <a:latin typeface="Calibri"/>
              </a:rPr>
              <a:t>•  </a:t>
            </a:r>
            <a:r>
              <a:rPr sz="1900">
                <a:solidFill>
                  <a:srgbClr val="1A1A1A"/>
                </a:solidFill>
                <a:latin typeface="Calibri"/>
              </a:rPr>
              <a:t>Rođen je 5. juna 1933. godine u selu Koraćica, u podnožju planine Kosmaj, blizu Mladenovca.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900" b="1">
                <a:solidFill>
                  <a:srgbClr val="B01E1E"/>
                </a:solidFill>
                <a:latin typeface="Calibri"/>
              </a:rPr>
              <a:t>•  </a:t>
            </a:r>
            <a:r>
              <a:rPr sz="1900">
                <a:solidFill>
                  <a:srgbClr val="1A1A1A"/>
                </a:solidFill>
                <a:latin typeface="Calibri"/>
              </a:rPr>
              <a:t>Detinjstvo je proveo u skromnim, seoskim uslovima, što je kasnije uticalo na njegove „narodne“ uloge.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900" b="1">
                <a:solidFill>
                  <a:srgbClr val="B01E1E"/>
                </a:solidFill>
                <a:latin typeface="Calibri"/>
              </a:rPr>
              <a:t>•  </a:t>
            </a:r>
            <a:r>
              <a:rPr sz="1900">
                <a:solidFill>
                  <a:srgbClr val="1A1A1A"/>
                </a:solidFill>
                <a:latin typeface="Calibri"/>
              </a:rPr>
              <a:t>Ljubav prema glumi otkrio je još u mladosti.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900" b="1">
                <a:solidFill>
                  <a:srgbClr val="B01E1E"/>
                </a:solidFill>
                <a:latin typeface="Calibri"/>
              </a:rPr>
              <a:t>•  </a:t>
            </a:r>
            <a:r>
              <a:rPr sz="1900">
                <a:solidFill>
                  <a:srgbClr val="1A1A1A"/>
                </a:solidFill>
                <a:latin typeface="Calibri"/>
              </a:rPr>
              <a:t>Diplomirao je na Akademiji za pozorišnu umetnost u Beogradu (danas Fakultet dramskih umetnosti).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900" b="1">
                <a:solidFill>
                  <a:srgbClr val="B01E1E"/>
                </a:solidFill>
                <a:latin typeface="Calibri"/>
              </a:rPr>
              <a:t>•  </a:t>
            </a:r>
            <a:r>
              <a:rPr sz="1900">
                <a:solidFill>
                  <a:srgbClr val="1A1A1A"/>
                </a:solidFill>
                <a:latin typeface="Calibri"/>
              </a:rPr>
              <a:t>Karijeru je započeo u pozorištu, a ubrzo prešao na film, gde je stekao najveću slavu.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900" b="1">
                <a:solidFill>
                  <a:srgbClr val="B01E1E"/>
                </a:solidFill>
                <a:latin typeface="Calibri"/>
              </a:rPr>
              <a:t>•  </a:t>
            </a:r>
            <a:r>
              <a:rPr sz="1900">
                <a:solidFill>
                  <a:srgbClr val="1A1A1A"/>
                </a:solidFill>
                <a:latin typeface="Calibri"/>
              </a:rPr>
              <a:t>Bio je član ansambla beogradskih pozorišta i jedan od najtraženijih glumaca svoje generacije.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7A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60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C9A227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64592"/>
            <a:ext cx="10424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Filmska karijera i najpoznatije uloge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B01E1E"/>
                </a:solidFill>
                <a:latin typeface="Calibri"/>
              </a:rPr>
              <a:t>•  </a:t>
            </a:r>
            <a:r>
              <a:rPr sz="1800">
                <a:solidFill>
                  <a:srgbClr val="1A1A1A"/>
                </a:solidFill>
                <a:latin typeface="Calibri"/>
              </a:rPr>
              <a:t>Najveću popularnost stekao je u partizanskim ratnim filmovima, gde je tumačio hrabre borce i komandante: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–  </a:t>
            </a:r>
            <a:r>
              <a:rPr sz="1600">
                <a:solidFill>
                  <a:srgbClr val="1A1A1A"/>
                </a:solidFill>
                <a:latin typeface="Calibri"/>
              </a:rPr>
              <a:t>„Bitka na Neretvi“ (1969)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–  </a:t>
            </a:r>
            <a:r>
              <a:rPr sz="1600">
                <a:solidFill>
                  <a:srgbClr val="1A1A1A"/>
                </a:solidFill>
                <a:latin typeface="Calibri"/>
              </a:rPr>
              <a:t>„Most“ (1969)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–  </a:t>
            </a:r>
            <a:r>
              <a:rPr sz="1600">
                <a:solidFill>
                  <a:srgbClr val="1A1A1A"/>
                </a:solidFill>
                <a:latin typeface="Calibri"/>
              </a:rPr>
              <a:t>„Valter brani Sarajevo“ (1972)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–  </a:t>
            </a:r>
            <a:r>
              <a:rPr sz="1600">
                <a:solidFill>
                  <a:srgbClr val="1A1A1A"/>
                </a:solidFill>
                <a:latin typeface="Calibri"/>
              </a:rPr>
              <a:t>„Sutjeska“ (1973) — gde je glumio uz Ričarda Bartona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B01E1E"/>
                </a:solidFill>
                <a:latin typeface="Calibri"/>
              </a:rPr>
              <a:t>•  </a:t>
            </a:r>
            <a:r>
              <a:rPr sz="1800">
                <a:solidFill>
                  <a:srgbClr val="1A1A1A"/>
                </a:solidFill>
                <a:latin typeface="Calibri"/>
              </a:rPr>
              <a:t>Igrao je i u komedijama, dramama i istorijskim filmovima, pokazujući veliki glumački raspon.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B01E1E"/>
                </a:solidFill>
                <a:latin typeface="Calibri"/>
              </a:rPr>
              <a:t>•  </a:t>
            </a:r>
            <a:r>
              <a:rPr sz="1800">
                <a:solidFill>
                  <a:srgbClr val="1A1A1A"/>
                </a:solidFill>
                <a:latin typeface="Calibri"/>
              </a:rPr>
              <a:t>Sarađivao je sa najznačajnijim rediteljima jugoslovenske kinematografije.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B01E1E"/>
                </a:solidFill>
                <a:latin typeface="Calibri"/>
              </a:rPr>
              <a:t>•  </a:t>
            </a:r>
            <a:r>
              <a:rPr sz="1800">
                <a:solidFill>
                  <a:srgbClr val="1A1A1A"/>
                </a:solidFill>
                <a:latin typeface="Calibri"/>
              </a:rPr>
              <a:t>Njegova pojava na ekranu postala je zaštitni znak čitave epohe domaćeg filma.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7A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60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C9A227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64592"/>
            <a:ext cx="10424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Televizijske uloge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900" b="1">
                <a:solidFill>
                  <a:srgbClr val="B01E1E"/>
                </a:solidFill>
                <a:latin typeface="Calibri"/>
              </a:rPr>
              <a:t>•  </a:t>
            </a:r>
            <a:r>
              <a:rPr sz="1900">
                <a:solidFill>
                  <a:srgbClr val="1A1A1A"/>
                </a:solidFill>
                <a:latin typeface="Calibri"/>
              </a:rPr>
              <a:t>Pored filma, bio je veoma popularan i na malim ekranima.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900" b="1">
                <a:solidFill>
                  <a:srgbClr val="B01E1E"/>
                </a:solidFill>
                <a:latin typeface="Calibri"/>
              </a:rPr>
              <a:t>•  </a:t>
            </a:r>
            <a:r>
              <a:rPr sz="1900">
                <a:solidFill>
                  <a:srgbClr val="1A1A1A"/>
                </a:solidFill>
                <a:latin typeface="Calibri"/>
              </a:rPr>
              <a:t>Glumio je u kultnim TV serijama koje su pratile generacije gledalaca:</a:t>
            </a:r>
          </a:p>
          <a:p>
            <a:pPr lvl="1">
              <a:spcBef>
                <a:spcPts val="0"/>
              </a:spcBef>
              <a:spcAft>
                <a:spcPts val="1300"/>
              </a:spcAft>
            </a:pPr>
            <a:r>
              <a:rPr sz="1900" b="1">
                <a:solidFill>
                  <a:srgbClr val="C9A227"/>
                </a:solidFill>
                <a:latin typeface="Calibri"/>
              </a:rPr>
              <a:t>–  </a:t>
            </a:r>
            <a:r>
              <a:rPr sz="1700">
                <a:solidFill>
                  <a:srgbClr val="1A1A1A"/>
                </a:solidFill>
                <a:latin typeface="Calibri"/>
              </a:rPr>
              <a:t>„Otpisani“ i „Povratak otpisanih“ — priče o beogradskim ilegalcima u Drugom svetskom ratu.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900" b="1">
                <a:solidFill>
                  <a:srgbClr val="B01E1E"/>
                </a:solidFill>
                <a:latin typeface="Calibri"/>
              </a:rPr>
              <a:t>•  </a:t>
            </a:r>
            <a:r>
              <a:rPr sz="1900">
                <a:solidFill>
                  <a:srgbClr val="1A1A1A"/>
                </a:solidFill>
                <a:latin typeface="Calibri"/>
              </a:rPr>
              <a:t>Učestvovao je u brojnim TV dramama i serijama tokom decenija.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900" b="1">
                <a:solidFill>
                  <a:srgbClr val="B01E1E"/>
                </a:solidFill>
                <a:latin typeface="Calibri"/>
              </a:rPr>
              <a:t>•  </a:t>
            </a:r>
            <a:r>
              <a:rPr sz="1900">
                <a:solidFill>
                  <a:srgbClr val="1A1A1A"/>
                </a:solidFill>
                <a:latin typeface="Calibri"/>
              </a:rPr>
              <a:t>Zahvaljujući televiziji, postao je omiljen i prepoznatljiv u svakom domu bivše Jugoslavije.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900" b="1">
                <a:solidFill>
                  <a:srgbClr val="B01E1E"/>
                </a:solidFill>
                <a:latin typeface="Calibri"/>
              </a:rPr>
              <a:t>•  </a:t>
            </a:r>
            <a:r>
              <a:rPr sz="1900">
                <a:solidFill>
                  <a:srgbClr val="1A1A1A"/>
                </a:solidFill>
                <a:latin typeface="Calibri"/>
              </a:rPr>
              <a:t>Njegov glas i lik vezuju se za zlatno doba domaće televizijske produkcije.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7A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60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C9A227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64592"/>
            <a:ext cx="10424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Politički angažman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900" b="1">
                <a:solidFill>
                  <a:srgbClr val="B01E1E"/>
                </a:solidFill>
                <a:latin typeface="Calibri"/>
              </a:rPr>
              <a:t>•  </a:t>
            </a:r>
            <a:r>
              <a:rPr sz="1900">
                <a:solidFill>
                  <a:srgbClr val="1A1A1A"/>
                </a:solidFill>
                <a:latin typeface="Calibri"/>
              </a:rPr>
              <a:t>U drugom delu života Bata Živojinović se aktivno bavio politikom.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900" b="1">
                <a:solidFill>
                  <a:srgbClr val="B01E1E"/>
                </a:solidFill>
                <a:latin typeface="Calibri"/>
              </a:rPr>
              <a:t>•  </a:t>
            </a:r>
            <a:r>
              <a:rPr sz="1900">
                <a:solidFill>
                  <a:srgbClr val="1A1A1A"/>
                </a:solidFill>
                <a:latin typeface="Calibri"/>
              </a:rPr>
              <a:t>Bio je član Socijalističke partije Srbije (SPS).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900" b="1">
                <a:solidFill>
                  <a:srgbClr val="B01E1E"/>
                </a:solidFill>
                <a:latin typeface="Calibri"/>
              </a:rPr>
              <a:t>•  </a:t>
            </a:r>
            <a:r>
              <a:rPr sz="1900">
                <a:solidFill>
                  <a:srgbClr val="1A1A1A"/>
                </a:solidFill>
                <a:latin typeface="Calibri"/>
              </a:rPr>
              <a:t>Više puta je biran za narodnog poslanika u Skupštini.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900" b="1">
                <a:solidFill>
                  <a:srgbClr val="B01E1E"/>
                </a:solidFill>
                <a:latin typeface="Calibri"/>
              </a:rPr>
              <a:t>•  </a:t>
            </a:r>
            <a:r>
              <a:rPr sz="1900">
                <a:solidFill>
                  <a:srgbClr val="1A1A1A"/>
                </a:solidFill>
                <a:latin typeface="Calibri"/>
              </a:rPr>
              <a:t>Njegov ulazak u politiku bio je propraćen velikom pažnjom javnosti, upravo zbog ogromne popularnosti koju je stekao kao glumac.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900" b="1">
                <a:solidFill>
                  <a:srgbClr val="B01E1E"/>
                </a:solidFill>
                <a:latin typeface="Calibri"/>
              </a:rPr>
              <a:t>•  </a:t>
            </a:r>
            <a:r>
              <a:rPr sz="1900">
                <a:solidFill>
                  <a:srgbClr val="1A1A1A"/>
                </a:solidFill>
                <a:latin typeface="Calibri"/>
              </a:rPr>
              <a:t>Iako podeljenih mišljenja o njegovom političkom angažmanu, publika ga je pre svega pamtila kao velikog umetnika.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7A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60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C9A227"/>
                </a:solidFill>
                <a:latin typeface="Calibr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64592"/>
            <a:ext cx="10424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Film „Lepa sela lepo gore“ (1996)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800" b="1">
                <a:solidFill>
                  <a:srgbClr val="B01E1E"/>
                </a:solidFill>
                <a:latin typeface="Calibri"/>
              </a:rPr>
              <a:t>•  </a:t>
            </a:r>
            <a:r>
              <a:rPr sz="1800">
                <a:solidFill>
                  <a:srgbClr val="1A1A1A"/>
                </a:solidFill>
                <a:latin typeface="Calibri"/>
              </a:rPr>
              <a:t>Reditelj: Srđan Dragojević.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800" b="1">
                <a:solidFill>
                  <a:srgbClr val="B01E1E"/>
                </a:solidFill>
                <a:latin typeface="Calibri"/>
              </a:rPr>
              <a:t>•  </a:t>
            </a:r>
            <a:r>
              <a:rPr sz="1800">
                <a:solidFill>
                  <a:srgbClr val="1A1A1A"/>
                </a:solidFill>
                <a:latin typeface="Calibri"/>
              </a:rPr>
              <a:t>Jedan od najznačajnijih i najpotresnijih srpskih filmova o ratu u Bosni (1992–1995).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800" b="1">
                <a:solidFill>
                  <a:srgbClr val="B01E1E"/>
                </a:solidFill>
                <a:latin typeface="Calibri"/>
              </a:rPr>
              <a:t>•  </a:t>
            </a:r>
            <a:r>
              <a:rPr sz="1800">
                <a:solidFill>
                  <a:srgbClr val="1A1A1A"/>
                </a:solidFill>
                <a:latin typeface="Calibri"/>
              </a:rPr>
              <a:t>Radnja prati grupu srpskih boraca koji ostaju zarobljeni u tunelu, okruženi neprijateljskim snagama.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800" b="1">
                <a:solidFill>
                  <a:srgbClr val="B01E1E"/>
                </a:solidFill>
                <a:latin typeface="Calibri"/>
              </a:rPr>
              <a:t>•  </a:t>
            </a:r>
            <a:r>
              <a:rPr sz="1800">
                <a:solidFill>
                  <a:srgbClr val="1A1A1A"/>
                </a:solidFill>
                <a:latin typeface="Calibri"/>
              </a:rPr>
              <a:t>Film kroz potresne scene prikazuje besmisao rata i raspad nekadašnjeg „bratstva i jedinstva“.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800" b="1">
                <a:solidFill>
                  <a:srgbClr val="B01E1E"/>
                </a:solidFill>
                <a:latin typeface="Calibri"/>
              </a:rPr>
              <a:t>•  </a:t>
            </a:r>
            <a:r>
              <a:rPr sz="1800">
                <a:solidFill>
                  <a:srgbClr val="1A1A1A"/>
                </a:solidFill>
                <a:latin typeface="Calibri"/>
              </a:rPr>
              <a:t>Smatra se antiratnim filmom — ne slavi rat, već pokazuje njegovu tragediju i ljudsku patnju.</a:t>
            </a:r>
          </a:p>
        </p:txBody>
      </p:sp>
      <p:sp>
        <p:nvSpPr>
          <p:cNvPr id="7" name="Rectangle 6"/>
          <p:cNvSpPr/>
          <p:nvPr/>
        </p:nvSpPr>
        <p:spPr>
          <a:xfrm>
            <a:off x="7818120" y="7726679"/>
            <a:ext cx="3931920" cy="4663440"/>
          </a:xfrm>
          <a:prstGeom prst="rect">
            <a:avLst/>
          </a:prstGeom>
          <a:solidFill>
            <a:srgbClr val="7A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783080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C9A227"/>
                </a:solidFill>
                <a:latin typeface="Calibri"/>
              </a:rPr>
              <a:t>ZANIMLJIVO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468880"/>
            <a:ext cx="3520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C9A227"/>
                </a:solidFill>
                <a:latin typeface="Calibri"/>
              </a:rPr>
              <a:t>•  </a:t>
            </a:r>
            <a:r>
              <a:rPr sz="1400">
                <a:solidFill>
                  <a:srgbClr val="FFFFFF"/>
                </a:solidFill>
                <a:latin typeface="Calibri"/>
              </a:rPr>
              <a:t>Tunel u filmu je simbol — bezizlazna situacija i zarobljenost u mržnji rata.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C9A227"/>
                </a:solidFill>
                <a:latin typeface="Calibri"/>
              </a:rPr>
              <a:t>•  </a:t>
            </a:r>
            <a:r>
              <a:rPr sz="1400">
                <a:solidFill>
                  <a:srgbClr val="FFFFFF"/>
                </a:solidFill>
                <a:latin typeface="Calibri"/>
              </a:rPr>
              <a:t>Film je dobio brojne nagrade i prikazivan je širom sveta.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C9A227"/>
                </a:solidFill>
                <a:latin typeface="Calibri"/>
              </a:rPr>
              <a:t>•  </a:t>
            </a:r>
            <a:r>
              <a:rPr sz="1400">
                <a:solidFill>
                  <a:srgbClr val="FFFFFF"/>
                </a:solidFill>
                <a:latin typeface="Calibri"/>
              </a:rPr>
              <a:t>Naziv potiče iz crnog humora kojim se borci brane od strave rata.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7A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60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C9A227"/>
                </a:solidFill>
                <a:latin typeface="Calibr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64592"/>
            <a:ext cx="10424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Uloga Gvozdena — analiza lika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B01E1E"/>
                </a:solidFill>
                <a:latin typeface="Calibri"/>
              </a:rPr>
              <a:t>•  </a:t>
            </a:r>
            <a:r>
              <a:rPr sz="1800">
                <a:solidFill>
                  <a:srgbClr val="1A1A1A"/>
                </a:solidFill>
                <a:latin typeface="Calibri"/>
              </a:rPr>
              <a:t>Bata Živojinović tumači Gvozdena — starijeg, iskusnog borca među zarobljenim vojnicima.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B01E1E"/>
                </a:solidFill>
                <a:latin typeface="Calibri"/>
              </a:rPr>
              <a:t>•  </a:t>
            </a:r>
            <a:r>
              <a:rPr sz="1800">
                <a:solidFill>
                  <a:srgbClr val="1A1A1A"/>
                </a:solidFill>
                <a:latin typeface="Calibri"/>
              </a:rPr>
              <a:t>Gvozden je nekadašnji radnik i čovek koji je iskreno verovao u ideale „bratstva i jedinstva“ socijalističke Jugoslavije.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B01E1E"/>
                </a:solidFill>
                <a:latin typeface="Calibri"/>
              </a:rPr>
              <a:t>•  </a:t>
            </a:r>
            <a:r>
              <a:rPr sz="1800">
                <a:solidFill>
                  <a:srgbClr val="1A1A1A"/>
                </a:solidFill>
                <a:latin typeface="Calibri"/>
              </a:rPr>
              <a:t>On predstavlja stariju generaciju — onu koja je gradila zajedničku zemlju i ne može da prihvati da se ona ruši u krvi.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B01E1E"/>
                </a:solidFill>
                <a:latin typeface="Calibri"/>
              </a:rPr>
              <a:t>•  </a:t>
            </a:r>
            <a:r>
              <a:rPr sz="1800">
                <a:solidFill>
                  <a:srgbClr val="1A1A1A"/>
                </a:solidFill>
                <a:latin typeface="Calibri"/>
              </a:rPr>
              <a:t>Kako rat odmiče, Gvozden sve više gubi nadu i razočaran je u sve oko sebe.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B01E1E"/>
                </a:solidFill>
                <a:latin typeface="Calibri"/>
              </a:rPr>
              <a:t>•  </a:t>
            </a:r>
            <a:r>
              <a:rPr sz="1800">
                <a:solidFill>
                  <a:srgbClr val="1A1A1A"/>
                </a:solidFill>
                <a:latin typeface="Calibri"/>
              </a:rPr>
              <a:t>Njegov lik je tragičan: simbol sloma jednog sistema vrednosti i jedne epohe.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B01E1E"/>
                </a:solidFill>
                <a:latin typeface="Calibri"/>
              </a:rPr>
              <a:t>•  </a:t>
            </a:r>
            <a:r>
              <a:rPr sz="1800">
                <a:solidFill>
                  <a:srgbClr val="1A1A1A"/>
                </a:solidFill>
                <a:latin typeface="Calibri"/>
              </a:rPr>
              <a:t>U trenutku potpunog očaja, Gvozden donosi sudbonosnu, samoubilačku odluku — što je jedna od najupečatljivijih scena filma.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7A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60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C9A227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64592"/>
            <a:ext cx="10424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Značaj uloge i poruka filma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900" b="1">
                <a:solidFill>
                  <a:srgbClr val="B01E1E"/>
                </a:solidFill>
                <a:latin typeface="Calibri"/>
              </a:rPr>
              <a:t>•  </a:t>
            </a:r>
            <a:r>
              <a:rPr sz="1900">
                <a:solidFill>
                  <a:srgbClr val="1A1A1A"/>
                </a:solidFill>
                <a:latin typeface="Calibri"/>
              </a:rPr>
              <a:t>Uloga Gvozdena je posebno značajna jer Batu Živojinovića vidimo u potpuno novom svetlu.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900" b="1">
                <a:solidFill>
                  <a:srgbClr val="B01E1E"/>
                </a:solidFill>
                <a:latin typeface="Calibri"/>
              </a:rPr>
              <a:t>•  </a:t>
            </a:r>
            <a:r>
              <a:rPr sz="1900">
                <a:solidFill>
                  <a:srgbClr val="1A1A1A"/>
                </a:solidFill>
                <a:latin typeface="Calibri"/>
              </a:rPr>
              <a:t>Glumac koji je decenijama bio simbol partizanskih, pobedničkih junaka, sada igra slomljenog, razočaranog čoveka.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900" b="1">
                <a:solidFill>
                  <a:srgbClr val="B01E1E"/>
                </a:solidFill>
                <a:latin typeface="Calibri"/>
              </a:rPr>
              <a:t>•  </a:t>
            </a:r>
            <a:r>
              <a:rPr sz="1900">
                <a:solidFill>
                  <a:srgbClr val="1A1A1A"/>
                </a:solidFill>
                <a:latin typeface="Calibri"/>
              </a:rPr>
              <a:t>Time se stvara snažan kontrast: nekadašnji „heroj bratstva i jedinstva“ suočava se sa raspadom svega u šta je verovao.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900" b="1">
                <a:solidFill>
                  <a:srgbClr val="B01E1E"/>
                </a:solidFill>
                <a:latin typeface="Calibri"/>
              </a:rPr>
              <a:t>•  </a:t>
            </a:r>
            <a:r>
              <a:rPr sz="1900">
                <a:solidFill>
                  <a:srgbClr val="1A1A1A"/>
                </a:solidFill>
                <a:latin typeface="Calibri"/>
              </a:rPr>
              <a:t>Poruka filma kroz Gvozdena: rat uništava ne samo živote, već i ideale i ljudskost.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900" b="1">
                <a:solidFill>
                  <a:srgbClr val="B01E1E"/>
                </a:solidFill>
                <a:latin typeface="Calibri"/>
              </a:rPr>
              <a:t>•  </a:t>
            </a:r>
            <a:r>
              <a:rPr sz="1900">
                <a:solidFill>
                  <a:srgbClr val="1A1A1A"/>
                </a:solidFill>
                <a:latin typeface="Calibri"/>
              </a:rPr>
              <a:t>Njegova uloga gledaocu prenosi tugu, gubitak i besmislenost sukoba.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7A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60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C9A227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64592"/>
            <a:ext cx="10424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Nagrade, priznanja i nasleđe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900" b="1">
                <a:solidFill>
                  <a:srgbClr val="B01E1E"/>
                </a:solidFill>
                <a:latin typeface="Calibri"/>
              </a:rPr>
              <a:t>•  </a:t>
            </a:r>
            <a:r>
              <a:rPr sz="1900">
                <a:solidFill>
                  <a:srgbClr val="1A1A1A"/>
                </a:solidFill>
                <a:latin typeface="Calibri"/>
              </a:rPr>
              <a:t>Tokom karijere osvojio je brojne nagrade, među kojima i prestižne Zlatne arene na filmskom festivalu u Puli.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900" b="1">
                <a:solidFill>
                  <a:srgbClr val="B01E1E"/>
                </a:solidFill>
                <a:latin typeface="Calibri"/>
              </a:rPr>
              <a:t>•  </a:t>
            </a:r>
            <a:r>
              <a:rPr sz="1900">
                <a:solidFill>
                  <a:srgbClr val="1A1A1A"/>
                </a:solidFill>
                <a:latin typeface="Calibri"/>
              </a:rPr>
              <a:t>Dobitnik je priznanja za životno delo i mnogih drugih umetničkih nagrada.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900" b="1">
                <a:solidFill>
                  <a:srgbClr val="B01E1E"/>
                </a:solidFill>
                <a:latin typeface="Calibri"/>
              </a:rPr>
              <a:t>•  </a:t>
            </a:r>
            <a:r>
              <a:rPr sz="1900">
                <a:solidFill>
                  <a:srgbClr val="1A1A1A"/>
                </a:solidFill>
                <a:latin typeface="Calibri"/>
              </a:rPr>
              <a:t>Smatra se jednim od najvećih glumaca ovih prostora svih vremena.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900" b="1">
                <a:solidFill>
                  <a:srgbClr val="B01E1E"/>
                </a:solidFill>
                <a:latin typeface="Calibri"/>
              </a:rPr>
              <a:t>•  </a:t>
            </a:r>
            <a:r>
              <a:rPr sz="1900">
                <a:solidFill>
                  <a:srgbClr val="1A1A1A"/>
                </a:solidFill>
                <a:latin typeface="Calibri"/>
              </a:rPr>
              <a:t>Preminuo je 22. maja 2016. godine u Beogradu, u 83. godini života.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900" b="1">
                <a:solidFill>
                  <a:srgbClr val="B01E1E"/>
                </a:solidFill>
                <a:latin typeface="Calibri"/>
              </a:rPr>
              <a:t>•  </a:t>
            </a:r>
            <a:r>
              <a:rPr sz="1900">
                <a:solidFill>
                  <a:srgbClr val="1A1A1A"/>
                </a:solidFill>
                <a:latin typeface="Calibri"/>
              </a:rPr>
              <a:t>Njegovi filmovi i danas se rado gledaju, a lik i delo ostaju deo kulturnog nasleđa regiona.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B0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B0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 i="0">
                <a:solidFill>
                  <a:srgbClr val="C9A227"/>
                </a:solidFill>
                <a:latin typeface="Calibri"/>
              </a:rPr>
              <a:t>ZAKLJUČAK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011680"/>
            <a:ext cx="9235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sz="2000" b="1">
                <a:solidFill>
                  <a:srgbClr val="C9A227"/>
                </a:solidFill>
                <a:latin typeface="Calibri"/>
              </a:rPr>
              <a:t>•  </a:t>
            </a:r>
            <a:r>
              <a:rPr sz="2000">
                <a:solidFill>
                  <a:srgbClr val="F4F1EA"/>
                </a:solidFill>
                <a:latin typeface="Calibri"/>
              </a:rPr>
              <a:t>Bata Živojinović je svojim talentom i radom obeležio čitavu epohu domaćeg filma.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2000" b="1">
                <a:solidFill>
                  <a:srgbClr val="C9A227"/>
                </a:solidFill>
                <a:latin typeface="Calibri"/>
              </a:rPr>
              <a:t>•  </a:t>
            </a:r>
            <a:r>
              <a:rPr sz="2000">
                <a:solidFill>
                  <a:srgbClr val="F4F1EA"/>
                </a:solidFill>
                <a:latin typeface="Calibri"/>
              </a:rPr>
              <a:t>Od hrabrih partizanskih junaka do tragičnog Gvozdena, pokazao je izuzetan glumački raspon.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2000" b="1">
                <a:solidFill>
                  <a:srgbClr val="C9A227"/>
                </a:solidFill>
                <a:latin typeface="Calibri"/>
              </a:rPr>
              <a:t>•  </a:t>
            </a:r>
            <a:r>
              <a:rPr sz="2000">
                <a:solidFill>
                  <a:srgbClr val="F4F1EA"/>
                </a:solidFill>
                <a:latin typeface="Calibri"/>
              </a:rPr>
              <a:t>Uloga u filmu „Lepa sela lepo gore“ potvrdila je njegovu veličinu i u ozbiljnim, antiratnim ostvarenjima.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2000" b="1">
                <a:solidFill>
                  <a:srgbClr val="C9A227"/>
                </a:solidFill>
                <a:latin typeface="Calibri"/>
              </a:rPr>
              <a:t>•  </a:t>
            </a:r>
            <a:r>
              <a:rPr sz="2000">
                <a:solidFill>
                  <a:srgbClr val="F4F1EA"/>
                </a:solidFill>
                <a:latin typeface="Calibri"/>
              </a:rPr>
              <a:t>Ostaje upamćen kao legenda i jedan od najvoljenijih glumaca naših prostora.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50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HVALA NA PAŽNJI!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1">
                <a:solidFill>
                  <a:srgbClr val="C9A227"/>
                </a:solidFill>
                <a:latin typeface="Calibri"/>
              </a:rPr>
              <a:t>Pitanja i diskusija dobrodošli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F4F1EA"/>
                </a:solidFill>
                <a:latin typeface="Calibri"/>
              </a:rPr>
              <a:t>Izvori: Wikipedia, baze podataka o filmu, dostupni filmski i biografski materijali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