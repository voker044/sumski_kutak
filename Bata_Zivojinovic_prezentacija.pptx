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0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0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ta1.jpg"/>
          <p:cNvPicPr>
            <a:picLocks noChangeAspect="1"/>
          </p:cNvPicPr>
          <p:nvPr/>
        </p:nvPicPr>
        <p:blipFill>
          <a:blip r:embed="rId2"/>
          <a:srcRect l="10186" r="10186"/>
          <a:stretch>
            <a:fillRect/>
          </a:stretch>
        </p:blipFill>
        <p:spPr>
          <a:xfrm>
            <a:off x="7955279" y="1051560"/>
            <a:ext cx="3566160" cy="475488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" y="868680"/>
            <a:ext cx="7040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libri"/>
              </a:rPr>
              <a:t>MATURSKA / SEMINARSKA PREZENTACIJA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6858000" cy="5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704088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VELIMIR
„BATA“ ŽIVOJINOVIĆ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1">
                <a:solidFill>
                  <a:srgbClr val="F4F1EA"/>
                </a:solidFill>
                <a:latin typeface="Calibri"/>
              </a:rPr>
              <a:t>Život i uloge — s posebnim osvrtom na ulogu Gvozdena u filmu „Lepa sela lepo gore“ (1996)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7040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C9A227"/>
                </a:solidFill>
                <a:latin typeface="Calibri"/>
              </a:rPr>
              <a:t>1933 — 2016  •  legenda jugoslovenskog i srpskog filma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Sadržaj prezentacije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10058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Ko je bio Bata Živojinović?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Detinjstvo, mladost i školovanje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Filmska karijera i najpoznatije uloge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Televizijske uloge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Politički angažman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Film „Lepa sela lepo gore“ — o čemu se radi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Uloga Gvozdena — analiza lika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Značaj uloge i poruka filma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Nagrade, priznanja i nasleđe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Zaključak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Ko je bio Bata Živojinović?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675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Jedan od najpoznatijih i najplodnijih glumaca u istoriji jugoslovenskog i srpskog filma.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Tokom karijere igrao je u više od 300 filmova i televizijskih ostvarenja.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Postao je prepoznatljiv kao simbol „partizanskih“ ratnih filmova i otelotvorenje narodnog junaka.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Voljen kod publike zbog topline, autentičnosti i snažne ekranske pojave.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U drugom delu života bavio se i politikom.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554480"/>
            <a:ext cx="4114800" cy="233172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173736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C9A227"/>
                </a:solidFill>
                <a:latin typeface="Calibri"/>
              </a:rPr>
              <a:t>LIČNA KARTA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28600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•  </a:t>
            </a:r>
            <a:r>
              <a:rPr sz="1300">
                <a:solidFill>
                  <a:srgbClr val="FFFFFF"/>
                </a:solidFill>
                <a:latin typeface="Calibri"/>
              </a:rPr>
              <a:t>Puno ime: Velimir Živojinović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•  </a:t>
            </a:r>
            <a:r>
              <a:rPr sz="1300">
                <a:solidFill>
                  <a:srgbClr val="FFFFFF"/>
                </a:solidFill>
                <a:latin typeface="Calibri"/>
              </a:rPr>
              <a:t>Nadimak: Bata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•  </a:t>
            </a:r>
            <a:r>
              <a:rPr sz="1300">
                <a:solidFill>
                  <a:srgbClr val="FFFFFF"/>
                </a:solidFill>
                <a:latin typeface="Calibri"/>
              </a:rPr>
              <a:t>Rođen: 5. jun 1933, Koraćica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•  </a:t>
            </a:r>
            <a:r>
              <a:rPr sz="1300">
                <a:solidFill>
                  <a:srgbClr val="FFFFFF"/>
                </a:solidFill>
                <a:latin typeface="Calibri"/>
              </a:rPr>
              <a:t>Preminuo: 22. maj 2016, Beograd</a:t>
            </a:r>
          </a:p>
        </p:txBody>
      </p:sp>
      <p:pic>
        <p:nvPicPr>
          <p:cNvPr id="10" name="Picture 9" descr="bata2.jpg"/>
          <p:cNvPicPr>
            <a:picLocks noChangeAspect="1"/>
          </p:cNvPicPr>
          <p:nvPr/>
        </p:nvPicPr>
        <p:blipFill>
          <a:blip r:embed="rId2"/>
          <a:srcRect t="8170" b="8170"/>
          <a:stretch>
            <a:fillRect/>
          </a:stretch>
        </p:blipFill>
        <p:spPr>
          <a:xfrm>
            <a:off x="7589520" y="4069080"/>
            <a:ext cx="4114800" cy="228600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Detinjstvo, mladost i školovanje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Rođen je 5. juna 1933. u selu Koraćica, u podnožju planine Kosmaj, blizu Mladenovca.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Detinjstvo je proveo u skromnim, seoskim uslovima, što je kasnije uticalo na njegove „narodne“ uloge.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Ljubav prema glumi otkrio je još u mladosti.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Diplomirao je na Akademiji za pozorišnu umetnost u Beogradu.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Karijeru je započeo u pozorištu, a ubrzo prešao na film, gde je stekao najveću slavu.</a:t>
            </a:r>
          </a:p>
        </p:txBody>
      </p:sp>
      <p:pic>
        <p:nvPicPr>
          <p:cNvPr id="7" name="Picture 6" descr="kosmaj.jpg"/>
          <p:cNvPicPr>
            <a:picLocks noChangeAspect="1"/>
          </p:cNvPicPr>
          <p:nvPr/>
        </p:nvPicPr>
        <p:blipFill>
          <a:blip r:embed="rId2"/>
          <a:srcRect l="24971" r="24971"/>
          <a:stretch>
            <a:fillRect/>
          </a:stretch>
        </p:blipFill>
        <p:spPr>
          <a:xfrm>
            <a:off x="7680960" y="1554480"/>
            <a:ext cx="4023360" cy="420624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580644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Planina Kosmaj, kraj odakle potiče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Filmska karijera i najpoznatije uloge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Najveću popularnost stekao je u partizanskim ratnim filmovima, tumačeći hrabre borce i komandante: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–  </a:t>
            </a:r>
            <a:r>
              <a:rPr sz="1500">
                <a:solidFill>
                  <a:srgbClr val="1A1A1A"/>
                </a:solidFill>
                <a:latin typeface="Calibri"/>
              </a:rPr>
              <a:t>„Bitka na Neretvi“ (1969)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–  </a:t>
            </a:r>
            <a:r>
              <a:rPr sz="1500">
                <a:solidFill>
                  <a:srgbClr val="1A1A1A"/>
                </a:solidFill>
                <a:latin typeface="Calibri"/>
              </a:rPr>
              <a:t>„Most“ (1969)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–  </a:t>
            </a:r>
            <a:r>
              <a:rPr sz="1500">
                <a:solidFill>
                  <a:srgbClr val="1A1A1A"/>
                </a:solidFill>
                <a:latin typeface="Calibri"/>
              </a:rPr>
              <a:t>„Valter brani Sarajevo“ (1972)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–  </a:t>
            </a:r>
            <a:r>
              <a:rPr sz="1500">
                <a:solidFill>
                  <a:srgbClr val="1A1A1A"/>
                </a:solidFill>
                <a:latin typeface="Calibri"/>
              </a:rPr>
              <a:t>„Sutjeska“ (1973) — uz Ričarda Bartona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Igrao je i u komedijama, dramama i istorijskim filmovima — veliki glumački raspon.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Njegova pojava postala je zaštitni znak čitave epohe domaćeg filma.</a:t>
            </a:r>
          </a:p>
        </p:txBody>
      </p:sp>
      <p:pic>
        <p:nvPicPr>
          <p:cNvPr id="7" name="Picture 6" descr="bata3.jpg"/>
          <p:cNvPicPr>
            <a:picLocks noChangeAspect="1"/>
          </p:cNvPicPr>
          <p:nvPr/>
        </p:nvPicPr>
        <p:blipFill>
          <a:blip r:embed="rId2"/>
          <a:srcRect l="16797" r="16797"/>
          <a:stretch>
            <a:fillRect/>
          </a:stretch>
        </p:blipFill>
        <p:spPr>
          <a:xfrm>
            <a:off x="7680960" y="1737360"/>
            <a:ext cx="4023360" cy="402336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Televizijske uloge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Pored filma, bio je veoma popularan i na malim ekranima.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Glumio je u kultnim TV serijama koje su pratile generacije gledalaca: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–  </a:t>
            </a:r>
            <a:r>
              <a:rPr sz="1600">
                <a:solidFill>
                  <a:srgbClr val="1A1A1A"/>
                </a:solidFill>
                <a:latin typeface="Calibri"/>
              </a:rPr>
              <a:t>„Otpisani“ i „Povratak otpisanih“ — priče o beogradskim ilegalcima u Drugom svetskom ratu.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Učestvovao je u brojnim TV dramama i serijama tokom decenija.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Zahvaljujući televiziji, postao je omiljen u svakom domu bivše Jugoslavije.</a:t>
            </a:r>
          </a:p>
        </p:txBody>
      </p:sp>
      <p:pic>
        <p:nvPicPr>
          <p:cNvPr id="7" name="Picture 6" descr="bata1.jpg"/>
          <p:cNvPicPr>
            <a:picLocks noChangeAspect="1"/>
          </p:cNvPicPr>
          <p:nvPr/>
        </p:nvPicPr>
        <p:blipFill>
          <a:blip r:embed="rId2"/>
          <a:srcRect l="2331" r="2331"/>
          <a:stretch>
            <a:fillRect/>
          </a:stretch>
        </p:blipFill>
        <p:spPr>
          <a:xfrm>
            <a:off x="7680960" y="1554480"/>
            <a:ext cx="4023360" cy="448056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Politički angažman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U drugom delu života aktivno se bavio politikom.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Bio je član Socijalističke partije Srbije (SPS).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Više puta je biran za narodnog poslanika u Skupštini.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Ulazak u politiku propraćen je velikom pažnjom javnosti — zbog ogromne popularnosti koju je stekao kao glumac.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Publika ga je pre svega pamtila kao velikog umetnika.</a:t>
            </a:r>
          </a:p>
        </p:txBody>
      </p:sp>
      <p:pic>
        <p:nvPicPr>
          <p:cNvPr id="7" name="Picture 6" descr="skupstina.jpg"/>
          <p:cNvPicPr>
            <a:picLocks noChangeAspect="1"/>
          </p:cNvPicPr>
          <p:nvPr/>
        </p:nvPicPr>
        <p:blipFill>
          <a:blip r:embed="rId2"/>
          <a:srcRect l="2849" r="2849"/>
          <a:stretch>
            <a:fillRect/>
          </a:stretch>
        </p:blipFill>
        <p:spPr>
          <a:xfrm>
            <a:off x="7680960" y="1920240"/>
            <a:ext cx="4023360" cy="274320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470916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U Skupštini Srbije (1990-e)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Film „Lepa sela lepo gore“ (1996)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Reditelj: Srđan Dragojević.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Jedan od najznačajnijih i najpotresnijih srpskih filmova o ratu u Bosni (1992–1995).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Radnja prati grupu srpskih boraca zarobljenih u tunelu, okruženih neprijateljskim snagama.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Kroz potresne scene prikazuje besmisao rata i raspad nekadašnjeg „bratstva i jedinstva“.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Antiratni film — ne slavi rat, već pokazuje njegovu tragediju i ljudsku patnju.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554480"/>
            <a:ext cx="3977639" cy="466344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78308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C9A227"/>
                </a:solidFill>
                <a:latin typeface="Calibri"/>
              </a:rPr>
              <a:t>ZANIMLJIVO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46888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9A227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Tunel je simbol — bezizlazna situacija i zarobljenost u mržnji rata.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9A227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Film je dobio brojne nagrade i prikazivan je širom sveta.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9A227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Naziv potiče iz crnog humora kojim se borci brane od strave rata.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Uloga Gvozdena — analiza lika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Bata Živojinović tumači Gvozdena — starijeg, iskusnog borca među zarobljenim vojnicima.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Gvozden je nekadašnji radnik koji je iskreno verovao u ideale „bratstva i jedinstva“ socijalističke Jugoslavije.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Predstavlja stariju generaciju — onu koja je gradila zajedničku zemlju i ne može da prihvati da se ona ruši u krvi.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Kako rat odmiče, sve više gubi nadu i razočaran je u sve oko sebe.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Tragičan lik — simbol sloma jednog sistema vrednosti i jedne epohe.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U trenutku potpunog očaja donosi sudbonosnu, samoubilačku odluku — jedna od najupečatljivijih scena filma.</a:t>
            </a:r>
          </a:p>
        </p:txBody>
      </p:sp>
      <p:pic>
        <p:nvPicPr>
          <p:cNvPr id="7" name="Picture 6" descr="bata3.jpg"/>
          <p:cNvPicPr>
            <a:picLocks noChangeAspect="1"/>
          </p:cNvPicPr>
          <p:nvPr/>
        </p:nvPicPr>
        <p:blipFill>
          <a:blip r:embed="rId2"/>
          <a:srcRect l="16797" r="16797"/>
          <a:stretch>
            <a:fillRect/>
          </a:stretch>
        </p:blipFill>
        <p:spPr>
          <a:xfrm>
            <a:off x="7680960" y="1737360"/>
            <a:ext cx="4023360" cy="402336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580644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Bata Živojinović — legenda domaćeg glumišta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Značaj uloge i poruka filma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>
                <a:solidFill>
                  <a:srgbClr val="1A1A1A"/>
                </a:solidFill>
                <a:latin typeface="Calibri"/>
              </a:rPr>
              <a:t>Uloga Gvozdena je posebno značajna jer Batu Živojinovića vidimo u potpuno novom svetlu.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>
                <a:solidFill>
                  <a:srgbClr val="1A1A1A"/>
                </a:solidFill>
                <a:latin typeface="Calibri"/>
              </a:rPr>
              <a:t>Glumac koji je decenijama bio simbol partizanskih, pobedničkih junaka, sada igra slomljenog, razočaranog čoveka.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>
                <a:solidFill>
                  <a:srgbClr val="1A1A1A"/>
                </a:solidFill>
                <a:latin typeface="Calibri"/>
              </a:rPr>
              <a:t>Stvara se snažan kontrast: nekadašnji „heroj bratstva i jedinstva“ suočava se sa raspadom svega u šta je verovao.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>
                <a:solidFill>
                  <a:srgbClr val="1A1A1A"/>
                </a:solidFill>
                <a:latin typeface="Calibri"/>
              </a:rPr>
              <a:t>Poruka filma kroz Gvozdena: rat uništava ne samo živote, već i ideale i ljudskost.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>
                <a:solidFill>
                  <a:srgbClr val="1A1A1A"/>
                </a:solidFill>
                <a:latin typeface="Calibri"/>
              </a:rPr>
              <a:t>Njegova uloga gledaocu prenosi tugu, gubitak i besmislenost sukoba.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Nagrade, priznanja i nasleđe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675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Osvojio je brojne nagrade, među kojima i prestižne Zlatne arene na festivalu u Puli.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Dobitnik je priznanja za životno delo i mnogih drugih umetničkih nagrada.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Smatra se jednim od najvećih glumaca ovih prostora svih vremena.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Preminuo je 22. maja 2016. u Beogradu, u 83. godini.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Njemu u čast izdata je i poštanska marka; filmovi mu se i danas rado gledaju.</a:t>
            </a:r>
          </a:p>
        </p:txBody>
      </p:sp>
      <p:pic>
        <p:nvPicPr>
          <p:cNvPr id="7" name="Picture 6" descr="pula.jpg"/>
          <p:cNvPicPr>
            <a:picLocks noChangeAspect="1"/>
          </p:cNvPicPr>
          <p:nvPr/>
        </p:nvPicPr>
        <p:blipFill>
          <a:blip r:embed="rId2"/>
          <a:srcRect l="1201" r="1201"/>
          <a:stretch>
            <a:fillRect/>
          </a:stretch>
        </p:blipFill>
        <p:spPr>
          <a:xfrm>
            <a:off x="7680960" y="1600200"/>
            <a:ext cx="4023360" cy="233172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3950208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Arena u Puli — dom filmskog festivala</a:t>
            </a:r>
          </a:p>
        </p:txBody>
      </p:sp>
      <p:pic>
        <p:nvPicPr>
          <p:cNvPr id="9" name="Picture 8" descr="marka.jpg"/>
          <p:cNvPicPr>
            <a:picLocks noChangeAspect="1"/>
          </p:cNvPicPr>
          <p:nvPr/>
        </p:nvPicPr>
        <p:blipFill>
          <a:blip r:embed="rId3"/>
          <a:srcRect t="32277" b="32277"/>
          <a:stretch>
            <a:fillRect/>
          </a:stretch>
        </p:blipFill>
        <p:spPr>
          <a:xfrm>
            <a:off x="7680960" y="4343400"/>
            <a:ext cx="4023360" cy="192024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680960" y="6291072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Poštanska marka Srbije (2023)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0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0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C9A227"/>
                </a:solidFill>
                <a:latin typeface="Calibri"/>
              </a:rPr>
              <a:t>ZAKLJUČAK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011680"/>
            <a:ext cx="9235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C9A227"/>
                </a:solidFill>
                <a:latin typeface="Calibri"/>
              </a:rPr>
              <a:t>•  </a:t>
            </a:r>
            <a:r>
              <a:rPr sz="2000">
                <a:solidFill>
                  <a:srgbClr val="F4F1EA"/>
                </a:solidFill>
                <a:latin typeface="Calibri"/>
              </a:rPr>
              <a:t>Bata Živojinović je svojim talentom i radom obeležio čitavu epohu domaćeg filma.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C9A227"/>
                </a:solidFill>
                <a:latin typeface="Calibri"/>
              </a:rPr>
              <a:t>•  </a:t>
            </a:r>
            <a:r>
              <a:rPr sz="2000">
                <a:solidFill>
                  <a:srgbClr val="F4F1EA"/>
                </a:solidFill>
                <a:latin typeface="Calibri"/>
              </a:rPr>
              <a:t>Od hrabrih partizanskih junaka do tragičnog Gvozdena, pokazao je izuzetan glumački raspon.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C9A227"/>
                </a:solidFill>
                <a:latin typeface="Calibri"/>
              </a:rPr>
              <a:t>•  </a:t>
            </a:r>
            <a:r>
              <a:rPr sz="2000">
                <a:solidFill>
                  <a:srgbClr val="F4F1EA"/>
                </a:solidFill>
                <a:latin typeface="Calibri"/>
              </a:rPr>
              <a:t>Uloga u filmu „Lepa sela lepo gore“ potvrdila je njegovu veličinu i u ozbiljnim, antiratnim ostvarenjima.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C9A227"/>
                </a:solidFill>
                <a:latin typeface="Calibri"/>
              </a:rPr>
              <a:t>•  </a:t>
            </a:r>
            <a:r>
              <a:rPr sz="2000">
                <a:solidFill>
                  <a:srgbClr val="F4F1EA"/>
                </a:solidFill>
                <a:latin typeface="Calibri"/>
              </a:rPr>
              <a:t>Ostaje upamćen kao legenda i jedan od najvoljenijih glumaca naših prostora.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0" y="2468880"/>
            <a:ext cx="7589520" cy="5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HVALA NA PAŽNJI!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C9A227"/>
                </a:solidFill>
                <a:latin typeface="Calibri"/>
              </a:rPr>
              <a:t>Pitanja i diskusija dobrodošli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C9A227"/>
                </a:solidFill>
                <a:latin typeface="Calibri"/>
              </a:rPr>
              <a:t>Izvori teksta: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F4F1EA"/>
                </a:solidFill>
                <a:latin typeface="Calibri"/>
              </a:rPr>
              <a:t>Wikipedia i dostupni filmski i biografski materijali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C9A227"/>
                </a:solidFill>
                <a:latin typeface="Calibri"/>
              </a:rPr>
              <a:t>Fotografije: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394960"/>
            <a:ext cx="9966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F4F1EA"/>
                </a:solidFill>
                <a:latin typeface="Calibri"/>
              </a:rPr>
              <a:t>Wikimedia Commons — portreti i fotografija iz Skupštine: Medija centar Beograd / Stevan Kragujević (CC BY-SA 3.0); Kosmaj i Arena u Puli (CC BY-SA); poštanska marka: Pošta Srbije (javno vlasništvo).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